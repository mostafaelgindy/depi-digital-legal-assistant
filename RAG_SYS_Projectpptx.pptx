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media/image17.svg" ContentType="image/svg+xml"/>
  <Override PartName="/ppt/media/image20.svg" ContentType="image/svg+xml"/>
  <Override PartName="/ppt/media/image29.svg" ContentType="image/svg+xml"/>
  <Override PartName="/ppt/media/image30.svg" ContentType="image/svg+xml"/>
  <Override PartName="/ppt/media/image31.svg" ContentType="image/svg+xml"/>
  <Override PartName="/ppt/media/image32.svg" ContentType="image/svg+xml"/>
  <Override PartName="/ppt/media/image38.svg" ContentType="image/svg+xml"/>
  <Override PartName="/ppt/media/image40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68" r:id="rId7"/>
    <p:sldId id="266" r:id="rId8"/>
    <p:sldId id="269" r:id="rId9"/>
    <p:sldId id="275" r:id="rId10"/>
    <p:sldId id="271" r:id="rId11"/>
    <p:sldId id="272" r:id="rId12"/>
    <p:sldId id="273" r:id="rId13"/>
    <p:sldId id="274" r:id="rId14"/>
    <p:sldId id="277" r:id="rId15"/>
    <p:sldId id="278" r:id="rId16"/>
    <p:sldId id="263" r:id="rId17"/>
    <p:sldId id="265" r:id="rId18"/>
  </p:sldIdLst>
  <p:sldSz cx="14630400" cy="8229600"/>
  <p:notesSz cx="8229600" cy="14630400"/>
  <p:embeddedFontLst>
    <p:embeddedFont>
      <p:font typeface="Bahnschrift SemiLight" panose="020B0502040204020203" charset="0"/>
      <p:regular r:id="rId22"/>
    </p:embeddedFont>
    <p:embeddedFont>
      <p:font typeface="Open Sans" pitchFamily="34" charset="0"/>
      <p:bold r:id="rId23"/>
    </p:embeddedFont>
    <p:embeddedFont>
      <p:font typeface="Open Sans" pitchFamily="34" charset="-122"/>
      <p:bold r:id="rId24"/>
    </p:embeddedFont>
    <p:embeddedFont>
      <p:font typeface="Open Sans" pitchFamily="34" charset="-120"/>
      <p:bold r:id="rId25"/>
    </p:embeddedFont>
    <p:embeddedFont>
      <p:font typeface="Calibri" panose="020F0502020204030204" charset="0"/>
      <p:regular r:id="rId26"/>
      <p:bold r:id="rId27"/>
    </p:embeddedFont>
    <p:embeddedFont>
      <p:font typeface="Algerian" panose="04020705040A02060702" charset="0"/>
      <p:regular r:id="rId28"/>
    </p:embeddedFont>
    <p:embeddedFont>
      <p:font typeface="Bahnschrift SemiBold" panose="020B0502040204020203" charset="0"/>
      <p:bold r:id="rId29"/>
    </p:embeddedFont>
    <p:embeddedFont>
      <p:font typeface="Bahnschrift Light" panose="020B0502040204020203" charset="0"/>
      <p:regular r:id="rId30"/>
    </p:embeddedFont>
    <p:embeddedFont>
      <p:font typeface="Aldhabi" panose="01000000000000000000" charset="0"/>
      <p:regular r:id="rId3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1" Type="http://schemas.openxmlformats.org/officeDocument/2006/relationships/font" Target="fonts/font10.fntdata"/><Relationship Id="rId30" Type="http://schemas.openxmlformats.org/officeDocument/2006/relationships/font" Target="fonts/font9.fntdata"/><Relationship Id="rId3" Type="http://schemas.openxmlformats.org/officeDocument/2006/relationships/slide" Target="slides/slide1.xml"/><Relationship Id="rId29" Type="http://schemas.openxmlformats.org/officeDocument/2006/relationships/font" Target="fonts/font8.fntdata"/><Relationship Id="rId28" Type="http://schemas.openxmlformats.org/officeDocument/2006/relationships/font" Target="fonts/font7.fntdata"/><Relationship Id="rId27" Type="http://schemas.openxmlformats.org/officeDocument/2006/relationships/font" Target="fonts/font6.fntdata"/><Relationship Id="rId26" Type="http://schemas.openxmlformats.org/officeDocument/2006/relationships/font" Target="fonts/font5.fntdata"/><Relationship Id="rId25" Type="http://schemas.openxmlformats.org/officeDocument/2006/relationships/font" Target="fonts/font4.fntdata"/><Relationship Id="rId24" Type="http://schemas.openxmlformats.org/officeDocument/2006/relationships/font" Target="fonts/font3.fntdata"/><Relationship Id="rId23" Type="http://schemas.openxmlformats.org/officeDocument/2006/relationships/font" Target="fonts/font2.fntdata"/><Relationship Id="rId22" Type="http://schemas.openxmlformats.org/officeDocument/2006/relationships/font" Target="fonts/font1.fntdata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GB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9" Type="http://schemas.openxmlformats.org/officeDocument/2006/relationships/notesSlide" Target="../notesSlides/notesSlide3.xml"/><Relationship Id="rId18" Type="http://schemas.openxmlformats.org/officeDocument/2006/relationships/slideLayout" Target="../slideLayouts/slideLayout4.xml"/><Relationship Id="rId17" Type="http://schemas.openxmlformats.org/officeDocument/2006/relationships/image" Target="../media/image9.png"/><Relationship Id="rId16" Type="http://schemas.openxmlformats.org/officeDocument/2006/relationships/image" Target="../media/image8.jpeg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.xml"/><Relationship Id="rId6" Type="http://schemas.openxmlformats.org/officeDocument/2006/relationships/slideLayout" Target="../slideLayouts/slideLayout6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22.xml"/><Relationship Id="rId8" Type="http://schemas.openxmlformats.org/officeDocument/2006/relationships/tags" Target="../tags/tag21.xml"/><Relationship Id="rId7" Type="http://schemas.openxmlformats.org/officeDocument/2006/relationships/tags" Target="../tags/tag20.xml"/><Relationship Id="rId6" Type="http://schemas.openxmlformats.org/officeDocument/2006/relationships/tags" Target="../tags/tag19.xml"/><Relationship Id="rId5" Type="http://schemas.openxmlformats.org/officeDocument/2006/relationships/tags" Target="../tags/tag18.xml"/><Relationship Id="rId4" Type="http://schemas.openxmlformats.org/officeDocument/2006/relationships/tags" Target="../tags/tag17.xml"/><Relationship Id="rId3" Type="http://schemas.openxmlformats.org/officeDocument/2006/relationships/tags" Target="../tags/tag16.xml"/><Relationship Id="rId24" Type="http://schemas.openxmlformats.org/officeDocument/2006/relationships/notesSlide" Target="../notesSlides/notesSlide5.xml"/><Relationship Id="rId23" Type="http://schemas.openxmlformats.org/officeDocument/2006/relationships/slideLayout" Target="../slideLayouts/slideLayout8.xml"/><Relationship Id="rId22" Type="http://schemas.openxmlformats.org/officeDocument/2006/relationships/image" Target="../media/image17.svg"/><Relationship Id="rId21" Type="http://schemas.openxmlformats.org/officeDocument/2006/relationships/image" Target="../media/image16.png"/><Relationship Id="rId20" Type="http://schemas.openxmlformats.org/officeDocument/2006/relationships/tags" Target="../tags/tag33.xml"/><Relationship Id="rId2" Type="http://schemas.openxmlformats.org/officeDocument/2006/relationships/tags" Target="../tags/tag15.xml"/><Relationship Id="rId19" Type="http://schemas.openxmlformats.org/officeDocument/2006/relationships/tags" Target="../tags/tag32.xml"/><Relationship Id="rId18" Type="http://schemas.openxmlformats.org/officeDocument/2006/relationships/tags" Target="../tags/tag31.xml"/><Relationship Id="rId17" Type="http://schemas.openxmlformats.org/officeDocument/2006/relationships/tags" Target="../tags/tag30.xml"/><Relationship Id="rId16" Type="http://schemas.openxmlformats.org/officeDocument/2006/relationships/tags" Target="../tags/tag29.xml"/><Relationship Id="rId15" Type="http://schemas.openxmlformats.org/officeDocument/2006/relationships/tags" Target="../tags/tag28.xml"/><Relationship Id="rId14" Type="http://schemas.openxmlformats.org/officeDocument/2006/relationships/tags" Target="../tags/tag27.xml"/><Relationship Id="rId13" Type="http://schemas.openxmlformats.org/officeDocument/2006/relationships/tags" Target="../tags/tag26.xml"/><Relationship Id="rId12" Type="http://schemas.openxmlformats.org/officeDocument/2006/relationships/tags" Target="../tags/tag25.xml"/><Relationship Id="rId11" Type="http://schemas.openxmlformats.org/officeDocument/2006/relationships/tags" Target="../tags/tag24.xml"/><Relationship Id="rId10" Type="http://schemas.openxmlformats.org/officeDocument/2006/relationships/tags" Target="../tags/tag23.xml"/><Relationship Id="rId1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41.xml"/><Relationship Id="rId8" Type="http://schemas.openxmlformats.org/officeDocument/2006/relationships/tags" Target="../tags/tag40.xml"/><Relationship Id="rId7" Type="http://schemas.openxmlformats.org/officeDocument/2006/relationships/tags" Target="../tags/tag39.xml"/><Relationship Id="rId6" Type="http://schemas.openxmlformats.org/officeDocument/2006/relationships/tags" Target="../tags/tag38.xml"/><Relationship Id="rId5" Type="http://schemas.openxmlformats.org/officeDocument/2006/relationships/tags" Target="../tags/tag37.xml"/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3" Type="http://schemas.openxmlformats.org/officeDocument/2006/relationships/notesSlide" Target="../notesSlides/notesSlide6.xml"/><Relationship Id="rId12" Type="http://schemas.openxmlformats.org/officeDocument/2006/relationships/slideLayout" Target="../slideLayouts/slideLayout8.xml"/><Relationship Id="rId11" Type="http://schemas.openxmlformats.org/officeDocument/2006/relationships/image" Target="../media/image20.svg"/><Relationship Id="rId10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1.xml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50.xml"/><Relationship Id="rId8" Type="http://schemas.openxmlformats.org/officeDocument/2006/relationships/tags" Target="../tags/tag49.xml"/><Relationship Id="rId7" Type="http://schemas.openxmlformats.org/officeDocument/2006/relationships/tags" Target="../tags/tag48.xml"/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2" Type="http://schemas.openxmlformats.org/officeDocument/2006/relationships/notesSlide" Target="../notesSlides/notesSlide9.x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24.png"/><Relationship Id="rId1" Type="http://schemas.openxmlformats.org/officeDocument/2006/relationships/tags" Target="../tags/tag42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57.xml"/><Relationship Id="rId8" Type="http://schemas.openxmlformats.org/officeDocument/2006/relationships/tags" Target="../tags/tag56.xml"/><Relationship Id="rId7" Type="http://schemas.openxmlformats.org/officeDocument/2006/relationships/tags" Target="../tags/tag55.xml"/><Relationship Id="rId6" Type="http://schemas.openxmlformats.org/officeDocument/2006/relationships/tags" Target="../tags/tag54.xml"/><Relationship Id="rId5" Type="http://schemas.openxmlformats.org/officeDocument/2006/relationships/tags" Target="../tags/tag53.xml"/><Relationship Id="rId4" Type="http://schemas.openxmlformats.org/officeDocument/2006/relationships/tags" Target="../tags/tag52.xml"/><Relationship Id="rId3" Type="http://schemas.openxmlformats.org/officeDocument/2006/relationships/tags" Target="../tags/tag51.xml"/><Relationship Id="rId21" Type="http://schemas.openxmlformats.org/officeDocument/2006/relationships/notesSlide" Target="../notesSlides/notesSlide10.xml"/><Relationship Id="rId20" Type="http://schemas.openxmlformats.org/officeDocument/2006/relationships/slideLayout" Target="../slideLayouts/slideLayout13.xml"/><Relationship Id="rId2" Type="http://schemas.openxmlformats.org/officeDocument/2006/relationships/image" Target="../media/image26.png"/><Relationship Id="rId19" Type="http://schemas.openxmlformats.org/officeDocument/2006/relationships/image" Target="../media/image21.png"/><Relationship Id="rId18" Type="http://schemas.openxmlformats.org/officeDocument/2006/relationships/tags" Target="../tags/tag66.xml"/><Relationship Id="rId17" Type="http://schemas.openxmlformats.org/officeDocument/2006/relationships/tags" Target="../tags/tag65.xml"/><Relationship Id="rId16" Type="http://schemas.openxmlformats.org/officeDocument/2006/relationships/tags" Target="../tags/tag64.xml"/><Relationship Id="rId15" Type="http://schemas.openxmlformats.org/officeDocument/2006/relationships/tags" Target="../tags/tag63.xml"/><Relationship Id="rId14" Type="http://schemas.openxmlformats.org/officeDocument/2006/relationships/tags" Target="../tags/tag62.xml"/><Relationship Id="rId13" Type="http://schemas.openxmlformats.org/officeDocument/2006/relationships/tags" Target="../tags/tag61.xml"/><Relationship Id="rId12" Type="http://schemas.openxmlformats.org/officeDocument/2006/relationships/tags" Target="../tags/tag60.xml"/><Relationship Id="rId11" Type="http://schemas.openxmlformats.org/officeDocument/2006/relationships/tags" Target="../tags/tag59.xml"/><Relationship Id="rId10" Type="http://schemas.openxmlformats.org/officeDocument/2006/relationships/tags" Target="../tags/tag58.xml"/><Relationship Id="rId1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7.jpe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73.xml"/><Relationship Id="rId8" Type="http://schemas.openxmlformats.org/officeDocument/2006/relationships/tags" Target="../tags/tag72.xml"/><Relationship Id="rId7" Type="http://schemas.openxmlformats.org/officeDocument/2006/relationships/tags" Target="../tags/tag71.xml"/><Relationship Id="rId6" Type="http://schemas.openxmlformats.org/officeDocument/2006/relationships/tags" Target="../tags/tag70.xml"/><Relationship Id="rId5" Type="http://schemas.openxmlformats.org/officeDocument/2006/relationships/image" Target="../media/image29.svg"/><Relationship Id="rId4" Type="http://schemas.openxmlformats.org/officeDocument/2006/relationships/image" Target="../media/image28.png"/><Relationship Id="rId3" Type="http://schemas.openxmlformats.org/officeDocument/2006/relationships/tags" Target="../tags/tag69.xml"/><Relationship Id="rId27" Type="http://schemas.openxmlformats.org/officeDocument/2006/relationships/notesSlide" Target="../notesSlides/notesSlide12.xml"/><Relationship Id="rId26" Type="http://schemas.openxmlformats.org/officeDocument/2006/relationships/slideLayout" Target="../slideLayouts/slideLayout14.xml"/><Relationship Id="rId25" Type="http://schemas.openxmlformats.org/officeDocument/2006/relationships/tags" Target="../tags/tag86.xml"/><Relationship Id="rId24" Type="http://schemas.openxmlformats.org/officeDocument/2006/relationships/tags" Target="../tags/tag85.xml"/><Relationship Id="rId23" Type="http://schemas.openxmlformats.org/officeDocument/2006/relationships/image" Target="../media/image32.svg"/><Relationship Id="rId22" Type="http://schemas.openxmlformats.org/officeDocument/2006/relationships/tags" Target="../tags/tag84.xml"/><Relationship Id="rId21" Type="http://schemas.openxmlformats.org/officeDocument/2006/relationships/tags" Target="../tags/tag83.xml"/><Relationship Id="rId20" Type="http://schemas.openxmlformats.org/officeDocument/2006/relationships/tags" Target="../tags/tag82.xml"/><Relationship Id="rId2" Type="http://schemas.openxmlformats.org/officeDocument/2006/relationships/tags" Target="../tags/tag68.xml"/><Relationship Id="rId19" Type="http://schemas.openxmlformats.org/officeDocument/2006/relationships/tags" Target="../tags/tag81.xml"/><Relationship Id="rId18" Type="http://schemas.openxmlformats.org/officeDocument/2006/relationships/tags" Target="../tags/tag80.xml"/><Relationship Id="rId17" Type="http://schemas.openxmlformats.org/officeDocument/2006/relationships/image" Target="../media/image31.svg"/><Relationship Id="rId16" Type="http://schemas.openxmlformats.org/officeDocument/2006/relationships/tags" Target="../tags/tag79.xml"/><Relationship Id="rId15" Type="http://schemas.openxmlformats.org/officeDocument/2006/relationships/tags" Target="../tags/tag78.xml"/><Relationship Id="rId14" Type="http://schemas.openxmlformats.org/officeDocument/2006/relationships/tags" Target="../tags/tag77.xml"/><Relationship Id="rId13" Type="http://schemas.openxmlformats.org/officeDocument/2006/relationships/tags" Target="../tags/tag76.xml"/><Relationship Id="rId12" Type="http://schemas.openxmlformats.org/officeDocument/2006/relationships/tags" Target="../tags/tag75.xml"/><Relationship Id="rId11" Type="http://schemas.openxmlformats.org/officeDocument/2006/relationships/image" Target="../media/image30.svg"/><Relationship Id="rId10" Type="http://schemas.openxmlformats.org/officeDocument/2006/relationships/tags" Target="../tags/tag74.xml"/><Relationship Id="rId1" Type="http://schemas.openxmlformats.org/officeDocument/2006/relationships/tags" Target="../tags/tag67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95.xml"/><Relationship Id="rId8" Type="http://schemas.openxmlformats.org/officeDocument/2006/relationships/tags" Target="../tags/tag94.xml"/><Relationship Id="rId7" Type="http://schemas.openxmlformats.org/officeDocument/2006/relationships/tags" Target="../tags/tag93.xml"/><Relationship Id="rId6" Type="http://schemas.openxmlformats.org/officeDocument/2006/relationships/tags" Target="../tags/tag92.xml"/><Relationship Id="rId5" Type="http://schemas.openxmlformats.org/officeDocument/2006/relationships/tags" Target="../tags/tag91.xml"/><Relationship Id="rId4" Type="http://schemas.openxmlformats.org/officeDocument/2006/relationships/tags" Target="../tags/tag90.xml"/><Relationship Id="rId3" Type="http://schemas.openxmlformats.org/officeDocument/2006/relationships/tags" Target="../tags/tag89.xml"/><Relationship Id="rId28" Type="http://schemas.openxmlformats.org/officeDocument/2006/relationships/notesSlide" Target="../notesSlides/notesSlide13.xml"/><Relationship Id="rId27" Type="http://schemas.openxmlformats.org/officeDocument/2006/relationships/slideLayout" Target="../slideLayouts/slideLayout15.xml"/><Relationship Id="rId26" Type="http://schemas.openxmlformats.org/officeDocument/2006/relationships/image" Target="../media/image17.svg"/><Relationship Id="rId25" Type="http://schemas.openxmlformats.org/officeDocument/2006/relationships/image" Target="../media/image16.png"/><Relationship Id="rId24" Type="http://schemas.openxmlformats.org/officeDocument/2006/relationships/tags" Target="../tags/tag110.xml"/><Relationship Id="rId23" Type="http://schemas.openxmlformats.org/officeDocument/2006/relationships/tags" Target="../tags/tag109.xml"/><Relationship Id="rId22" Type="http://schemas.openxmlformats.org/officeDocument/2006/relationships/tags" Target="../tags/tag108.xml"/><Relationship Id="rId21" Type="http://schemas.openxmlformats.org/officeDocument/2006/relationships/tags" Target="../tags/tag107.xml"/><Relationship Id="rId20" Type="http://schemas.openxmlformats.org/officeDocument/2006/relationships/tags" Target="../tags/tag106.xml"/><Relationship Id="rId2" Type="http://schemas.openxmlformats.org/officeDocument/2006/relationships/tags" Target="../tags/tag88.xml"/><Relationship Id="rId19" Type="http://schemas.openxmlformats.org/officeDocument/2006/relationships/tags" Target="../tags/tag105.xml"/><Relationship Id="rId18" Type="http://schemas.openxmlformats.org/officeDocument/2006/relationships/tags" Target="../tags/tag104.xml"/><Relationship Id="rId17" Type="http://schemas.openxmlformats.org/officeDocument/2006/relationships/tags" Target="../tags/tag103.xml"/><Relationship Id="rId16" Type="http://schemas.openxmlformats.org/officeDocument/2006/relationships/tags" Target="../tags/tag102.xml"/><Relationship Id="rId15" Type="http://schemas.openxmlformats.org/officeDocument/2006/relationships/tags" Target="../tags/tag101.xml"/><Relationship Id="rId14" Type="http://schemas.openxmlformats.org/officeDocument/2006/relationships/tags" Target="../tags/tag100.xml"/><Relationship Id="rId13" Type="http://schemas.openxmlformats.org/officeDocument/2006/relationships/tags" Target="../tags/tag99.xml"/><Relationship Id="rId12" Type="http://schemas.openxmlformats.org/officeDocument/2006/relationships/tags" Target="../tags/tag98.xml"/><Relationship Id="rId11" Type="http://schemas.openxmlformats.org/officeDocument/2006/relationships/tags" Target="../tags/tag97.xml"/><Relationship Id="rId10" Type="http://schemas.openxmlformats.org/officeDocument/2006/relationships/tags" Target="../tags/tag96.xml"/><Relationship Id="rId1" Type="http://schemas.openxmlformats.org/officeDocument/2006/relationships/tags" Target="../tags/tag87.xml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4.xml"/><Relationship Id="rId5" Type="http://schemas.openxmlformats.org/officeDocument/2006/relationships/slideLayout" Target="../slideLayouts/slideLayout9.xml"/><Relationship Id="rId4" Type="http://schemas.openxmlformats.org/officeDocument/2006/relationships/image" Target="../media/image36.png"/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image" Target="../media/image33.png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5.xml"/><Relationship Id="rId5" Type="http://schemas.openxmlformats.org/officeDocument/2006/relationships/slideLayout" Target="../slideLayouts/slideLayout11.xml"/><Relationship Id="rId4" Type="http://schemas.openxmlformats.org/officeDocument/2006/relationships/image" Target="../media/image40.svg"/><Relationship Id="rId3" Type="http://schemas.openxmlformats.org/officeDocument/2006/relationships/image" Target="../media/image39.png"/><Relationship Id="rId2" Type="http://schemas.openxmlformats.org/officeDocument/2006/relationships/image" Target="../media/image38.svg"/><Relationship Id="rId1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7488" y="1655088"/>
            <a:ext cx="4919424" cy="491942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93790" y="2246590"/>
            <a:ext cx="7556421" cy="141755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43728"/>
                </a:solidFill>
                <a:latin typeface="Bahnschrift SemiLight" panose="020B0502040204020203" charset="0"/>
                <a:ea typeface="Crimson Pro Bold" pitchFamily="34" charset="-122"/>
                <a:cs typeface="Bahnschrift SemiLight" panose="020B0502040204020203" charset="0"/>
              </a:rPr>
              <a:t>RAG-Based Chatbot for the Egyptian Constitution</a:t>
            </a:r>
            <a:endParaRPr lang="en-US" sz="4450" dirty="0">
              <a:latin typeface="Bahnschrift SemiLight" panose="020B0502040204020203" charset="0"/>
              <a:cs typeface="Bahnschrift SemiLight" panose="020B0502040204020203" charset="0"/>
            </a:endParaRPr>
          </a:p>
        </p:txBody>
      </p:sp>
      <p:sp>
        <p:nvSpPr>
          <p:cNvPr id="5" name="Text 1"/>
          <p:cNvSpPr/>
          <p:nvPr/>
        </p:nvSpPr>
        <p:spPr>
          <a:xfrm>
            <a:off x="793790" y="4004310"/>
            <a:ext cx="7556421" cy="136052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dirty="0">
                <a:solidFill>
                  <a:srgbClr val="835E5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Graduation Project | Digital Egypt Pioneers Initiative (DEPI) </a:t>
            </a:r>
            <a:endParaRPr lang="en-US" sz="2200" dirty="0">
              <a:solidFill>
                <a:srgbClr val="835E54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  <a:p>
            <a:pPr marL="0" indent="0" algn="l">
              <a:lnSpc>
                <a:spcPts val="3550"/>
              </a:lnSpc>
              <a:buNone/>
            </a:pPr>
            <a:r>
              <a:rPr lang="en-US" sz="2200" dirty="0">
                <a:solidFill>
                  <a:srgbClr val="835E5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Generative AI Track</a:t>
            </a:r>
            <a:endParaRPr lang="en-US" sz="2200" dirty="0">
              <a:solidFill>
                <a:srgbClr val="835E54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  <a:p>
            <a:pPr marL="0" indent="0" algn="l">
              <a:lnSpc>
                <a:spcPts val="3550"/>
              </a:lnSpc>
              <a:buNone/>
            </a:pP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793790" y="5619988"/>
            <a:ext cx="755642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7" name="Freeform 10"/>
          <p:cNvSpPr/>
          <p:nvPr/>
        </p:nvSpPr>
        <p:spPr>
          <a:xfrm>
            <a:off x="6332220" y="3035300"/>
            <a:ext cx="663575" cy="655320"/>
          </a:xfrm>
          <a:custGeom>
            <a:avLst/>
            <a:gdLst/>
            <a:ahLst/>
            <a:cxnLst/>
            <a:rect l="l" t="t" r="r" b="b"/>
            <a:pathLst>
              <a:path w="2140825" h="2057400">
                <a:moveTo>
                  <a:pt x="0" y="0"/>
                </a:moveTo>
                <a:lnTo>
                  <a:pt x="2140825" y="0"/>
                </a:lnTo>
                <a:lnTo>
                  <a:pt x="2140825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>
            <a:alphaModFix amt="32000"/>
            <a:clrChange>
              <a:clrFrom>
                <a:srgbClr val="ECA595">
                  <a:alpha val="100000"/>
                </a:srgbClr>
              </a:clrFrom>
              <a:clrTo>
                <a:srgbClr val="ECA595">
                  <a:alpha val="100000"/>
                  <a:alpha val="0"/>
                </a:srgbClr>
              </a:clrTo>
            </a:clrChange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1">
            <a:alphaModFix amt="25000"/>
            <a:clrChange>
              <a:clrFrom>
                <a:srgbClr val="ECA595">
                  <a:alpha val="100000"/>
                </a:srgbClr>
              </a:clrFrom>
              <a:clrTo>
                <a:srgbClr val="ECA595">
                  <a:alpha val="100000"/>
                  <a:alpha val="0"/>
                </a:srgbClr>
              </a:clrTo>
            </a:clrChange>
            <a:lum bright="-6000" contrast="18000"/>
          </a:blip>
          <a:stretch>
            <a:fillRect/>
          </a:stretch>
        </p:blipFill>
        <p:spPr>
          <a:xfrm>
            <a:off x="9028430" y="635"/>
            <a:ext cx="5601335" cy="8228965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793790" y="514231"/>
            <a:ext cx="12295823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endParaRPr lang="en-US" altLang="en-GB" sz="4400" dirty="0">
              <a:latin typeface="Bahnschrift SemiLight" panose="020B0502040204020203" charset="0"/>
              <a:cs typeface="Bahnschrift SemiLight" panose="020B0502040204020203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99770" y="338455"/>
            <a:ext cx="13042900" cy="39776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indent="0" algn="l">
              <a:lnSpc>
                <a:spcPct val="200000"/>
              </a:lnSpc>
              <a:buSzPct val="100000"/>
              <a:buNone/>
            </a:pPr>
            <a:r>
              <a:rPr lang="en-US" sz="4400" b="1" dirty="0">
                <a:solidFill>
                  <a:srgbClr val="443728"/>
                </a:solidFill>
                <a:latin typeface="Bahnschrift SemiLight" panose="020B0502040204020203" charset="0"/>
                <a:ea typeface="Crimson Pro Bold" pitchFamily="34" charset="-122"/>
                <a:cs typeface="Bahnschrift SemiLight" panose="020B0502040204020203" charset="0"/>
                <a:sym typeface="+mn-ea"/>
              </a:rPr>
              <a:t> What is the project?</a:t>
            </a:r>
            <a:endParaRPr lang="en-US" sz="4400" b="1" dirty="0">
              <a:solidFill>
                <a:srgbClr val="443728"/>
              </a:solidFill>
              <a:latin typeface="Bahnschrift SemiLight" panose="020B0502040204020203" charset="0"/>
              <a:ea typeface="Crimson Pro Bold" pitchFamily="34" charset="-122"/>
              <a:cs typeface="Bahnschrift SemiLight" panose="020B0502040204020203" charset="0"/>
              <a:sym typeface="+mn-ea"/>
            </a:endParaRPr>
          </a:p>
          <a:p>
            <a:pPr marL="285750" indent="-285750" algn="l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altLang="en-GB" sz="2400" dirty="0">
                <a:solidFill>
                  <a:schemeClr val="tx1"/>
                </a:solidFill>
                <a:latin typeface="Calibri" panose="020F0502020204030204" charset="0"/>
                <a:ea typeface="Open Sans" pitchFamily="34" charset="-122"/>
                <a:cs typeface="Calibri" panose="020F0502020204030204" charset="0"/>
              </a:rPr>
              <a:t> An intelligent chatbot specialized in answering questions related to the Egyptian Constitution.</a:t>
            </a:r>
            <a:endParaRPr lang="en-US" altLang="en-GB" sz="2400" dirty="0">
              <a:solidFill>
                <a:schemeClr val="tx1"/>
              </a:solidFill>
              <a:latin typeface="Calibri" panose="020F0502020204030204" charset="0"/>
              <a:ea typeface="Open Sans" pitchFamily="34" charset="-122"/>
              <a:cs typeface="Calibri" panose="020F0502020204030204" charset="0"/>
            </a:endParaRPr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altLang="en-GB" sz="2400" dirty="0">
                <a:solidFill>
                  <a:schemeClr val="tx1"/>
                </a:solidFill>
                <a:latin typeface="Calibri" panose="020F0502020204030204" charset="0"/>
                <a:ea typeface="Open Sans" pitchFamily="34" charset="-122"/>
                <a:cs typeface="Calibri" panose="020F0502020204030204" charset="0"/>
              </a:rPr>
              <a:t>Built using Retrieval-Augmented Generation (RAG).</a:t>
            </a:r>
            <a:endParaRPr lang="en-US" altLang="en-GB" sz="2400" dirty="0">
              <a:solidFill>
                <a:schemeClr val="tx1"/>
              </a:solidFill>
              <a:latin typeface="Calibri" panose="020F0502020204030204" charset="0"/>
              <a:ea typeface="Open Sans" pitchFamily="34" charset="-122"/>
              <a:cs typeface="Calibri" panose="020F0502020204030204" charset="0"/>
            </a:endParaRPr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altLang="en-GB" sz="2400" dirty="0">
                <a:solidFill>
                  <a:schemeClr val="tx1"/>
                </a:solidFill>
                <a:latin typeface="Calibri" panose="020F0502020204030204" charset="0"/>
                <a:ea typeface="Open Sans" pitchFamily="34" charset="-122"/>
                <a:cs typeface="Calibri" panose="020F0502020204030204" charset="0"/>
              </a:rPr>
              <a:t>Provides accurate, trustworthy, and easy-to-understand legal information.</a:t>
            </a:r>
            <a:endParaRPr lang="en-US" altLang="en-GB" sz="2400" dirty="0">
              <a:solidFill>
                <a:schemeClr val="tx1"/>
              </a:solidFill>
              <a:latin typeface="Calibri" panose="020F0502020204030204" charset="0"/>
              <a:ea typeface="Open Sans" pitchFamily="34" charset="-122"/>
              <a:cs typeface="Calibri" panose="020F0502020204030204" charset="0"/>
            </a:endParaRPr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altLang="en-GB" sz="2400" dirty="0">
                <a:solidFill>
                  <a:schemeClr val="tx1"/>
                </a:solidFill>
                <a:latin typeface="Calibri" panose="020F0502020204030204" charset="0"/>
                <a:ea typeface="Open Sans" pitchFamily="34" charset="-122"/>
                <a:cs typeface="Calibri" panose="020F0502020204030204" charset="0"/>
              </a:rPr>
              <a:t>Designed to improve accessibility to constitutional articles</a:t>
            </a:r>
            <a:r>
              <a:rPr lang="en-US" sz="2400" dirty="0">
                <a:solidFill>
                  <a:schemeClr val="tx1"/>
                </a:solidFill>
                <a:latin typeface="Calibri" panose="020F0502020204030204" charset="0"/>
                <a:ea typeface="Open Sans" pitchFamily="34" charset="-122"/>
                <a:cs typeface="Calibri" panose="020F0502020204030204" charset="0"/>
              </a:rPr>
              <a:t>.</a:t>
            </a:r>
            <a:endParaRPr lang="en-US" sz="2400" dirty="0">
              <a:solidFill>
                <a:schemeClr val="tx1"/>
              </a:solidFill>
              <a:latin typeface="Calibri" panose="020F0502020204030204" charset="0"/>
              <a:ea typeface="Open Sans" pitchFamily="34" charset="-122"/>
              <a:cs typeface="Calibri" panose="020F050202020403020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3930491"/>
            <a:ext cx="13042821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735592"/>
            <a:ext cx="1304282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177790"/>
            <a:ext cx="13042821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endParaRPr lang="en-US" sz="1750" dirty="0"/>
          </a:p>
        </p:txBody>
      </p:sp>
      <p:sp>
        <p:nvSpPr>
          <p:cNvPr id="8" name="Text Box 7"/>
          <p:cNvSpPr txBox="1"/>
          <p:nvPr/>
        </p:nvSpPr>
        <p:spPr>
          <a:xfrm>
            <a:off x="699770" y="3855085"/>
            <a:ext cx="11984990" cy="36614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just">
              <a:lnSpc>
                <a:spcPct val="200000"/>
              </a:lnSpc>
              <a:buSzPct val="100000"/>
              <a:buNone/>
            </a:pPr>
            <a:r>
              <a:rPr lang="en-US" sz="4400" b="1" dirty="0">
                <a:solidFill>
                  <a:srgbClr val="443728"/>
                </a:solidFill>
                <a:latin typeface="Bahnschrift SemiLight" panose="020B0502040204020203" charset="0"/>
                <a:ea typeface="Crimson Pro Bold" pitchFamily="34" charset="-122"/>
                <a:cs typeface="Bahnschrift SemiLight" panose="020B0502040204020203" charset="0"/>
                <a:sym typeface="+mn-ea"/>
              </a:rPr>
              <a:t>Our main goal</a:t>
            </a:r>
            <a:endParaRPr lang="en-US" sz="4400" dirty="0">
              <a:latin typeface="Bahnschrift SemiLight" panose="020B0502040204020203" charset="0"/>
              <a:cs typeface="Bahnschrift SemiLight" panose="020B0502040204020203" charset="0"/>
            </a:endParaRPr>
          </a:p>
          <a:p>
            <a:pPr marL="342900" indent="-342900" algn="just">
              <a:lnSpc>
                <a:spcPct val="150000"/>
              </a:lnSpc>
              <a:buSzPct val="100000"/>
              <a:buChar char="•"/>
            </a:pPr>
            <a:r>
              <a:rPr lang="en-US" altLang="en-GB" sz="2400" dirty="0">
                <a:solidFill>
                  <a:schemeClr val="tx1"/>
                </a:solidFill>
                <a:latin typeface="Calibri" panose="020F0502020204030204" charset="0"/>
                <a:ea typeface="Open Sans" pitchFamily="34" charset="-122"/>
                <a:cs typeface="Calibri" panose="020F0502020204030204" charset="0"/>
              </a:rPr>
              <a:t>Develop a RAG-based chatbot that delivers accurate answers grounded in the Constitution.</a:t>
            </a:r>
            <a:endParaRPr lang="en-US" altLang="en-GB" sz="2400" dirty="0">
              <a:solidFill>
                <a:schemeClr val="tx1"/>
              </a:solidFill>
              <a:latin typeface="Calibri" panose="020F0502020204030204" charset="0"/>
              <a:ea typeface="Open Sans" pitchFamily="34" charset="-122"/>
              <a:cs typeface="Calibri" panose="020F0502020204030204" charset="0"/>
            </a:endParaRPr>
          </a:p>
          <a:p>
            <a:pPr marL="342900" indent="-342900" algn="just">
              <a:lnSpc>
                <a:spcPct val="150000"/>
              </a:lnSpc>
              <a:buSzPct val="100000"/>
              <a:buChar char="•"/>
            </a:pPr>
            <a:r>
              <a:rPr lang="en-US" altLang="en-GB" sz="2400" dirty="0">
                <a:solidFill>
                  <a:schemeClr val="tx1"/>
                </a:solidFill>
                <a:latin typeface="Calibri" panose="020F0502020204030204" charset="0"/>
                <a:ea typeface="Open Sans" pitchFamily="34" charset="-122"/>
                <a:cs typeface="Calibri" panose="020F0502020204030204" charset="0"/>
              </a:rPr>
              <a:t>Provide a simple and intuitive web interface.</a:t>
            </a:r>
            <a:endParaRPr lang="en-US" altLang="en-GB" sz="2400" dirty="0">
              <a:solidFill>
                <a:schemeClr val="tx1"/>
              </a:solidFill>
              <a:latin typeface="Calibri" panose="020F0502020204030204" charset="0"/>
              <a:ea typeface="Open Sans" pitchFamily="34" charset="-122"/>
              <a:cs typeface="Calibri" panose="020F0502020204030204" charset="0"/>
            </a:endParaRPr>
          </a:p>
          <a:p>
            <a:pPr marL="342900" indent="-342900" algn="just">
              <a:lnSpc>
                <a:spcPct val="150000"/>
              </a:lnSpc>
              <a:buSzPct val="100000"/>
              <a:buChar char="•"/>
            </a:pPr>
            <a:r>
              <a:rPr lang="en-US" altLang="en-GB" sz="2400" dirty="0">
                <a:solidFill>
                  <a:schemeClr val="tx1"/>
                </a:solidFill>
                <a:latin typeface="Calibri" panose="020F0502020204030204" charset="0"/>
                <a:ea typeface="Open Sans" pitchFamily="34" charset="-122"/>
                <a:cs typeface="Calibri" panose="020F0502020204030204" charset="0"/>
              </a:rPr>
              <a:t>Retrieve relevant articles and cite their sources.</a:t>
            </a:r>
            <a:endParaRPr lang="en-US" altLang="en-GB" sz="2400" dirty="0">
              <a:solidFill>
                <a:schemeClr val="tx1"/>
              </a:solidFill>
              <a:latin typeface="Calibri" panose="020F0502020204030204" charset="0"/>
              <a:ea typeface="Open Sans" pitchFamily="34" charset="-122"/>
              <a:cs typeface="Calibri" panose="020F0502020204030204" charset="0"/>
            </a:endParaRPr>
          </a:p>
          <a:p>
            <a:pPr marL="342900" indent="-342900" algn="just">
              <a:lnSpc>
                <a:spcPct val="150000"/>
              </a:lnSpc>
              <a:buSzPct val="100000"/>
              <a:buChar char="•"/>
            </a:pPr>
            <a:r>
              <a:rPr lang="en-US" altLang="en-GB" sz="2400" dirty="0">
                <a:solidFill>
                  <a:schemeClr val="tx1"/>
                </a:solidFill>
                <a:latin typeface="Calibri" panose="020F0502020204030204" charset="0"/>
                <a:ea typeface="Open Sans" pitchFamily="34" charset="-122"/>
                <a:cs typeface="Calibri" panose="020F0502020204030204" charset="0"/>
              </a:rPr>
              <a:t>Enhance public awareness of constitutional rights.</a:t>
            </a:r>
            <a:endParaRPr lang="en-US" altLang="en-GB" sz="2400" dirty="0">
              <a:solidFill>
                <a:schemeClr val="tx1"/>
              </a:solidFill>
              <a:latin typeface="Calibri" panose="020F0502020204030204" charset="0"/>
              <a:ea typeface="Open Sans" pitchFamily="34" charset="-122"/>
              <a:cs typeface="Calibri" panose="020F0502020204030204" charset="0"/>
            </a:endParaRPr>
          </a:p>
        </p:txBody>
      </p:sp>
      <p:sp>
        <p:nvSpPr>
          <p:cNvPr id="30" name="Text Box 29"/>
          <p:cNvSpPr txBox="1"/>
          <p:nvPr/>
        </p:nvSpPr>
        <p:spPr>
          <a:xfrm rot="21420000">
            <a:off x="12854305" y="7757795"/>
            <a:ext cx="1772285" cy="4572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noAutofit/>
          </a:bodyPr>
          <a:p>
            <a:r>
              <a:rPr lang="en-US" b="1">
                <a:latin typeface="Algerian" panose="04020705040A02060702" charset="0"/>
                <a:cs typeface="Algerian" panose="04020705040A02060702" charset="0"/>
              </a:rPr>
              <a:t> DEPI Project</a:t>
            </a:r>
            <a:endParaRPr lang="en-US" b="1">
              <a:latin typeface="Algerian" panose="04020705040A02060702" charset="0"/>
              <a:cs typeface="Algerian" panose="04020705040A02060702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092071" y="546021"/>
            <a:ext cx="7932658" cy="10815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4400" b="1" dirty="0">
                <a:solidFill>
                  <a:srgbClr val="443728"/>
                </a:solidFill>
                <a:latin typeface="Bahnschrift SemiLight" panose="020B0502040204020203" charset="0"/>
                <a:ea typeface="Crimson Pro Bold" pitchFamily="34" charset="-122"/>
                <a:cs typeface="Bahnschrift SemiLight" panose="020B0502040204020203" charset="0"/>
              </a:rPr>
              <a:t>Why a Chatbot for the Egyptian Constitution?</a:t>
            </a:r>
            <a:endParaRPr lang="en-US" sz="4400" dirty="0">
              <a:latin typeface="Bahnschrift SemiLight" panose="020B0502040204020203" charset="0"/>
              <a:cs typeface="Bahnschrift SemiLight" panose="020B0502040204020203" charset="0"/>
            </a:endParaRPr>
          </a:p>
        </p:txBody>
      </p:sp>
      <p:sp>
        <p:nvSpPr>
          <p:cNvPr id="5" name="Shape 1"/>
          <p:cNvSpPr/>
          <p:nvPr>
            <p:custDataLst>
              <p:tags r:id="rId2"/>
            </p:custDataLst>
          </p:nvPr>
        </p:nvSpPr>
        <p:spPr>
          <a:xfrm>
            <a:off x="6092190" y="1887220"/>
            <a:ext cx="4377690" cy="1123315"/>
          </a:xfrm>
          <a:prstGeom prst="roundRect">
            <a:avLst>
              <a:gd name="adj" fmla="val 8317"/>
            </a:avLst>
          </a:prstGeom>
          <a:solidFill>
            <a:srgbClr val="FFFCFA"/>
          </a:solidFill>
          <a:ln w="22860">
            <a:solidFill>
              <a:srgbClr val="D1C8C6"/>
            </a:solidFill>
            <a:prstDash val="solid"/>
          </a:ln>
        </p:spPr>
      </p:sp>
      <p:sp>
        <p:nvSpPr>
          <p:cNvPr id="6" name="Shape 2"/>
          <p:cNvSpPr/>
          <p:nvPr>
            <p:custDataLst>
              <p:tags r:id="rId3"/>
            </p:custDataLst>
          </p:nvPr>
        </p:nvSpPr>
        <p:spPr>
          <a:xfrm>
            <a:off x="6084570" y="1887220"/>
            <a:ext cx="76200" cy="1122680"/>
          </a:xfrm>
          <a:prstGeom prst="roundRect">
            <a:avLst>
              <a:gd name="adj" fmla="val 79486"/>
            </a:avLst>
          </a:prstGeom>
          <a:solidFill>
            <a:srgbClr val="835E54"/>
          </a:solidFill>
        </p:spPr>
      </p:sp>
      <p:sp>
        <p:nvSpPr>
          <p:cNvPr id="7" name="Text 3"/>
          <p:cNvSpPr/>
          <p:nvPr>
            <p:custDataLst>
              <p:tags r:id="rId4"/>
            </p:custDataLst>
          </p:nvPr>
        </p:nvSpPr>
        <p:spPr>
          <a:xfrm>
            <a:off x="6356509" y="2082998"/>
            <a:ext cx="2346960" cy="2703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endParaRPr lang="en-US" altLang="en-GB" sz="2000" dirty="0">
              <a:latin typeface="Bahnschrift SemiBold" panose="020B0502040204020203" charset="0"/>
              <a:cs typeface="Bahnschrift SemiBold" panose="020B0502040204020203" charset="0"/>
            </a:endParaRPr>
          </a:p>
          <a:p>
            <a:pPr marL="0" indent="0" algn="l">
              <a:lnSpc>
                <a:spcPts val="2100"/>
              </a:lnSpc>
              <a:buNone/>
            </a:pPr>
            <a:r>
              <a:rPr lang="en-US" altLang="en-GB" sz="2000" dirty="0">
                <a:latin typeface="Bahnschrift SemiBold" panose="020B0502040204020203" charset="0"/>
                <a:cs typeface="Bahnschrift SemiBold" panose="020B0502040204020203" charset="0"/>
              </a:rPr>
              <a:t>Complexity of Legal Language</a:t>
            </a:r>
            <a:endParaRPr lang="en-US" altLang="en-GB" sz="2000" dirty="0"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8" name="Text 4"/>
          <p:cNvSpPr/>
          <p:nvPr>
            <p:custDataLst>
              <p:tags r:id="rId5"/>
            </p:custDataLst>
          </p:nvPr>
        </p:nvSpPr>
        <p:spPr>
          <a:xfrm>
            <a:off x="6356350" y="2457450"/>
            <a:ext cx="7828915" cy="553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endParaRPr lang="en-US" altLang="en-GB" sz="20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9" name="Shape 5"/>
          <p:cNvSpPr/>
          <p:nvPr>
            <p:custDataLst>
              <p:tags r:id="rId6"/>
            </p:custDataLst>
          </p:nvPr>
        </p:nvSpPr>
        <p:spPr>
          <a:xfrm>
            <a:off x="6092190" y="3379470"/>
            <a:ext cx="5388610" cy="1115695"/>
          </a:xfrm>
          <a:prstGeom prst="roundRect">
            <a:avLst>
              <a:gd name="adj" fmla="val 8317"/>
            </a:avLst>
          </a:prstGeom>
          <a:solidFill>
            <a:srgbClr val="FFFCFA"/>
          </a:solidFill>
          <a:ln w="22860">
            <a:solidFill>
              <a:srgbClr val="D1C8C6"/>
            </a:solidFill>
            <a:prstDash val="solid"/>
          </a:ln>
        </p:spPr>
      </p:sp>
      <p:sp>
        <p:nvSpPr>
          <p:cNvPr id="10" name="Shape 6"/>
          <p:cNvSpPr/>
          <p:nvPr>
            <p:custDataLst>
              <p:tags r:id="rId7"/>
            </p:custDataLst>
          </p:nvPr>
        </p:nvSpPr>
        <p:spPr>
          <a:xfrm>
            <a:off x="6069330" y="3361055"/>
            <a:ext cx="76200" cy="1155065"/>
          </a:xfrm>
          <a:prstGeom prst="roundRect">
            <a:avLst>
              <a:gd name="adj" fmla="val 79486"/>
            </a:avLst>
          </a:prstGeom>
          <a:solidFill>
            <a:srgbClr val="835E54"/>
          </a:solidFill>
        </p:spPr>
      </p:sp>
      <p:sp>
        <p:nvSpPr>
          <p:cNvPr id="11" name="Text 7"/>
          <p:cNvSpPr/>
          <p:nvPr>
            <p:custDataLst>
              <p:tags r:id="rId8"/>
            </p:custDataLst>
          </p:nvPr>
        </p:nvSpPr>
        <p:spPr>
          <a:xfrm>
            <a:off x="6356509" y="3575328"/>
            <a:ext cx="2506385" cy="2703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endParaRPr lang="en-US" altLang="en-GB" sz="2000" dirty="0">
              <a:latin typeface="Bahnschrift SemiBold" panose="020B0502040204020203" charset="0"/>
              <a:cs typeface="Bahnschrift SemiBold" panose="020B0502040204020203" charset="0"/>
            </a:endParaRPr>
          </a:p>
          <a:p>
            <a:pPr marL="0" indent="0" algn="l">
              <a:lnSpc>
                <a:spcPts val="2100"/>
              </a:lnSpc>
              <a:buNone/>
            </a:pPr>
            <a:r>
              <a:rPr lang="en-US" altLang="en-GB" sz="2000" dirty="0">
                <a:latin typeface="Bahnschrift SemiBold" panose="020B0502040204020203" charset="0"/>
                <a:cs typeface="Bahnschrift SemiBold" panose="020B0502040204020203" charset="0"/>
              </a:rPr>
              <a:t>Difficulty in Accessing Specific Articles</a:t>
            </a:r>
            <a:endParaRPr lang="en-US" altLang="en-GB" sz="2000" dirty="0"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12" name="Text 8"/>
          <p:cNvSpPr/>
          <p:nvPr>
            <p:custDataLst>
              <p:tags r:id="rId9"/>
            </p:custDataLst>
          </p:nvPr>
        </p:nvSpPr>
        <p:spPr>
          <a:xfrm>
            <a:off x="6356350" y="3949700"/>
            <a:ext cx="7773035" cy="553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endParaRPr lang="en-US" altLang="en-GB" sz="20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13" name="Shape 9"/>
          <p:cNvSpPr/>
          <p:nvPr>
            <p:custDataLst>
              <p:tags r:id="rId10"/>
            </p:custDataLst>
          </p:nvPr>
        </p:nvSpPr>
        <p:spPr>
          <a:xfrm>
            <a:off x="6107430" y="4871720"/>
            <a:ext cx="6294120" cy="1139825"/>
          </a:xfrm>
          <a:prstGeom prst="roundRect">
            <a:avLst>
              <a:gd name="adj" fmla="val 8317"/>
            </a:avLst>
          </a:prstGeom>
          <a:solidFill>
            <a:srgbClr val="FFFCFA"/>
          </a:solidFill>
          <a:ln w="22860">
            <a:solidFill>
              <a:srgbClr val="D1C8C6"/>
            </a:solidFill>
            <a:prstDash val="solid"/>
          </a:ln>
        </p:spPr>
      </p:sp>
      <p:sp>
        <p:nvSpPr>
          <p:cNvPr id="14" name="Shape 10"/>
          <p:cNvSpPr/>
          <p:nvPr>
            <p:custDataLst>
              <p:tags r:id="rId11"/>
            </p:custDataLst>
          </p:nvPr>
        </p:nvSpPr>
        <p:spPr>
          <a:xfrm>
            <a:off x="6084570" y="4871720"/>
            <a:ext cx="76200" cy="1140460"/>
          </a:xfrm>
          <a:prstGeom prst="roundRect">
            <a:avLst>
              <a:gd name="adj" fmla="val 79486"/>
            </a:avLst>
          </a:prstGeom>
          <a:solidFill>
            <a:srgbClr val="835E54"/>
          </a:solidFill>
        </p:spPr>
        <p:txBody>
          <a:bodyPr/>
          <a:p>
            <a:endParaRPr lang="en-GB" altLang="en-US"/>
          </a:p>
        </p:txBody>
      </p:sp>
      <p:sp>
        <p:nvSpPr>
          <p:cNvPr id="15" name="Text 11"/>
          <p:cNvSpPr/>
          <p:nvPr>
            <p:custDataLst>
              <p:tags r:id="rId12"/>
            </p:custDataLst>
          </p:nvPr>
        </p:nvSpPr>
        <p:spPr>
          <a:xfrm>
            <a:off x="6356509" y="5067657"/>
            <a:ext cx="2717721" cy="2703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endParaRPr lang="en-US" altLang="en-GB" sz="2000" dirty="0">
              <a:latin typeface="Bahnschrift SemiBold" panose="020B0502040204020203" charset="0"/>
              <a:cs typeface="Bahnschrift SemiBold" panose="020B0502040204020203" charset="0"/>
            </a:endParaRPr>
          </a:p>
          <a:p>
            <a:pPr marL="0" indent="0" algn="l">
              <a:lnSpc>
                <a:spcPts val="2100"/>
              </a:lnSpc>
              <a:buNone/>
            </a:pPr>
            <a:r>
              <a:rPr lang="en-US" altLang="en-GB" sz="2000" dirty="0">
                <a:latin typeface="Bahnschrift SemiBold" panose="020B0502040204020203" charset="0"/>
                <a:cs typeface="Bahnschrift SemiBold" panose="020B0502040204020203" charset="0"/>
              </a:rPr>
              <a:t>Lack of a Constitution-Focused AI Assistant</a:t>
            </a:r>
            <a:endParaRPr lang="en-US" altLang="en-GB" sz="2000" dirty="0"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17" name="Shape 13"/>
          <p:cNvSpPr/>
          <p:nvPr>
            <p:custDataLst>
              <p:tags r:id="rId13"/>
            </p:custDataLst>
          </p:nvPr>
        </p:nvSpPr>
        <p:spPr>
          <a:xfrm>
            <a:off x="6069330" y="6367780"/>
            <a:ext cx="7429500" cy="1140460"/>
          </a:xfrm>
          <a:prstGeom prst="roundRect">
            <a:avLst>
              <a:gd name="adj" fmla="val 8317"/>
            </a:avLst>
          </a:prstGeom>
          <a:solidFill>
            <a:srgbClr val="FFFCFA"/>
          </a:solidFill>
          <a:ln w="22860">
            <a:solidFill>
              <a:srgbClr val="D1C8C6"/>
            </a:solidFill>
            <a:prstDash val="solid"/>
          </a:ln>
        </p:spPr>
      </p:sp>
      <p:sp>
        <p:nvSpPr>
          <p:cNvPr id="18" name="Shape 14"/>
          <p:cNvSpPr/>
          <p:nvPr>
            <p:custDataLst>
              <p:tags r:id="rId14"/>
            </p:custDataLst>
          </p:nvPr>
        </p:nvSpPr>
        <p:spPr>
          <a:xfrm>
            <a:off x="6069330" y="6379845"/>
            <a:ext cx="76200" cy="1125220"/>
          </a:xfrm>
          <a:prstGeom prst="roundRect">
            <a:avLst>
              <a:gd name="adj" fmla="val 79486"/>
            </a:avLst>
          </a:prstGeom>
          <a:solidFill>
            <a:srgbClr val="835E54"/>
          </a:solidFill>
        </p:spPr>
        <p:txBody>
          <a:bodyPr/>
          <a:p>
            <a:endParaRPr lang="en-GB" altLang="en-US"/>
          </a:p>
        </p:txBody>
      </p:sp>
      <p:sp>
        <p:nvSpPr>
          <p:cNvPr id="19" name="Text 15"/>
          <p:cNvSpPr/>
          <p:nvPr>
            <p:custDataLst>
              <p:tags r:id="rId15"/>
            </p:custDataLst>
          </p:nvPr>
        </p:nvSpPr>
        <p:spPr>
          <a:xfrm>
            <a:off x="6356509" y="6559987"/>
            <a:ext cx="2325291" cy="2703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endParaRPr lang="en-US" altLang="en-GB" sz="2000" dirty="0">
              <a:latin typeface="Bahnschrift SemiBold" panose="020B0502040204020203" charset="0"/>
              <a:cs typeface="Bahnschrift SemiBold" panose="020B0502040204020203" charset="0"/>
            </a:endParaRPr>
          </a:p>
          <a:p>
            <a:pPr marL="0" indent="0" algn="l">
              <a:lnSpc>
                <a:spcPts val="2100"/>
              </a:lnSpc>
              <a:buNone/>
            </a:pPr>
            <a:r>
              <a:rPr lang="en-US" altLang="en-GB" sz="2000" dirty="0">
                <a:latin typeface="Bahnschrift SemiBold" panose="020B0502040204020203" charset="0"/>
                <a:cs typeface="Bahnschrift SemiBold" panose="020B0502040204020203" charset="0"/>
              </a:rPr>
              <a:t>Need for Reliable and User-Friendly Legal Access</a:t>
            </a:r>
            <a:endParaRPr lang="en-US" altLang="en-GB" sz="2000" dirty="0"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pic>
        <p:nvPicPr>
          <p:cNvPr id="21" name="Picture 20" descr="mGLhW6swdOqOy-7Q5YALm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-109855" y="635"/>
            <a:ext cx="5596255" cy="8228965"/>
          </a:xfrm>
          <a:prstGeom prst="rect">
            <a:avLst/>
          </a:prstGeom>
        </p:spPr>
      </p:pic>
      <p:sp>
        <p:nvSpPr>
          <p:cNvPr id="3" name="Freeform 7"/>
          <p:cNvSpPr/>
          <p:nvPr/>
        </p:nvSpPr>
        <p:spPr>
          <a:xfrm>
            <a:off x="12400280" y="1887220"/>
            <a:ext cx="1624965" cy="1122680"/>
          </a:xfrm>
          <a:custGeom>
            <a:avLst/>
            <a:gdLst/>
            <a:ahLst/>
            <a:cxnLst/>
            <a:rect l="l" t="t" r="r" b="b"/>
            <a:pathLst>
              <a:path w="2536203" h="2257220">
                <a:moveTo>
                  <a:pt x="0" y="0"/>
                </a:moveTo>
                <a:lnTo>
                  <a:pt x="2536203" y="0"/>
                </a:lnTo>
                <a:lnTo>
                  <a:pt x="2536203" y="2257220"/>
                </a:lnTo>
                <a:lnTo>
                  <a:pt x="0" y="2257220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sp>
        <p:nvSpPr>
          <p:cNvPr id="30" name="Text Box 29"/>
          <p:cNvSpPr txBox="1"/>
          <p:nvPr/>
        </p:nvSpPr>
        <p:spPr>
          <a:xfrm rot="21420000">
            <a:off x="12854305" y="7757795"/>
            <a:ext cx="1772285" cy="4572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noAutofit/>
          </a:bodyPr>
          <a:p>
            <a:r>
              <a:rPr lang="en-US" b="1">
                <a:latin typeface="Algerian" panose="04020705040A02060702" charset="0"/>
                <a:cs typeface="Algerian" panose="04020705040A02060702" charset="0"/>
              </a:rPr>
              <a:t> DEPI Project</a:t>
            </a:r>
            <a:endParaRPr lang="en-US" b="1">
              <a:latin typeface="Algerian" panose="04020705040A02060702" charset="0"/>
              <a:cs typeface="Algerian" panose="04020705040A02060702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8417" y="459581"/>
            <a:ext cx="6484382" cy="52220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4400" b="1" dirty="0">
                <a:solidFill>
                  <a:srgbClr val="443728"/>
                </a:solidFill>
                <a:latin typeface="Bahnschrift SemiLight" panose="020B0502040204020203" charset="0"/>
                <a:ea typeface="Crimson Pro Bold" pitchFamily="34" charset="-122"/>
                <a:cs typeface="Bahnschrift SemiLight" panose="020B0502040204020203" charset="0"/>
              </a:rPr>
              <a:t>Proposed Solution: RAG Architecture</a:t>
            </a:r>
            <a:endParaRPr lang="en-US" sz="4400" dirty="0">
              <a:latin typeface="Bahnschrift SemiLight" panose="020B0502040204020203" charset="0"/>
              <a:cs typeface="Bahnschrift SemiLight" panose="020B0502040204020203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68417" y="1517848"/>
            <a:ext cx="6476286" cy="41767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800" b="1" dirty="0">
                <a:solidFill>
                  <a:srgbClr val="443728"/>
                </a:solidFill>
                <a:latin typeface="Calibri" panose="020F0502020204030204" charset="0"/>
                <a:ea typeface="Crimson Pro Bold" pitchFamily="34" charset="-122"/>
                <a:cs typeface="Calibri" panose="020F0502020204030204" charset="0"/>
              </a:rPr>
              <a:t>Why Retrieval-Augmented Generation (RAG)?</a:t>
            </a:r>
            <a:endParaRPr lang="en-US" sz="2800" b="1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68417" y="2020411"/>
            <a:ext cx="13293566" cy="53482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altLang="en-GB" sz="2400" dirty="0">
                <a:latin typeface="Calibri" panose="020F0502020204030204" charset="0"/>
                <a:cs typeface="Calibri" panose="020F0502020204030204" charset="0"/>
              </a:rPr>
              <a:t>Retrieval-Augmented Generation (RAG) is a hybrid approach that combines information retrieval with generative AI, making it ideal for legal use cases where accuracy and reliable sources are essential.</a:t>
            </a:r>
            <a:endParaRPr lang="en-US" altLang="en-GB" sz="2400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56682" y="3310692"/>
            <a:ext cx="3523655" cy="41767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800" b="1" dirty="0">
                <a:solidFill>
                  <a:srgbClr val="443728"/>
                </a:solidFill>
                <a:latin typeface="Calibri" panose="020F0502020204030204" charset="0"/>
                <a:ea typeface="Crimson Pro Bold" pitchFamily="34" charset="-122"/>
                <a:cs typeface="Calibri" panose="020F0502020204030204" charset="0"/>
              </a:rPr>
              <a:t>Advantages of Using RAG</a:t>
            </a:r>
            <a:endParaRPr lang="en-US" sz="2800" dirty="0">
              <a:latin typeface="Calibri" panose="020F0502020204030204" charset="0"/>
              <a:cs typeface="Calibri" panose="020F0502020204030204" charset="0"/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8417" y="4026614"/>
            <a:ext cx="4431149" cy="66841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78337" y="4812546"/>
            <a:ext cx="2089071" cy="26110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2000" b="1" dirty="0">
                <a:solidFill>
                  <a:srgbClr val="443728"/>
                </a:solidFill>
                <a:latin typeface="Bahnschrift Light" panose="020B0502040204020203" charset="0"/>
                <a:ea typeface="Crimson Pro Bold" pitchFamily="34" charset="-122"/>
                <a:cs typeface="Bahnschrift Light" panose="020B0502040204020203" charset="0"/>
              </a:rPr>
              <a:t>Reduces Hallucinations</a:t>
            </a:r>
            <a:endParaRPr lang="en-US" sz="2000" dirty="0">
              <a:latin typeface="Bahnschrift Light" panose="020B0502040204020203" charset="0"/>
              <a:cs typeface="Bahnschrift Light" panose="020B0502040204020203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835462" y="4367451"/>
            <a:ext cx="4097060" cy="80224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endParaRPr lang="en-US" sz="1600" dirty="0">
              <a:latin typeface="Calibri" panose="020F0502020204030204" charset="0"/>
              <a:cs typeface="Calibri" panose="020F0502020204030204" charset="0"/>
            </a:endParaRPr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9566" y="4026614"/>
            <a:ext cx="4431149" cy="66841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523786" y="4812546"/>
            <a:ext cx="2422088" cy="26110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2000" b="1" dirty="0">
                <a:solidFill>
                  <a:srgbClr val="443728"/>
                </a:solidFill>
                <a:latin typeface="Bahnschrift Light" panose="020B0502040204020203" charset="0"/>
                <a:ea typeface="Crimson Pro Bold" pitchFamily="34" charset="-122"/>
                <a:cs typeface="Bahnschrift Light" panose="020B0502040204020203" charset="0"/>
              </a:rPr>
              <a:t>Ensures Grounded Answers</a:t>
            </a:r>
            <a:endParaRPr lang="en-US" sz="2000" dirty="0">
              <a:latin typeface="Bahnschrift Light" panose="020B0502040204020203" charset="0"/>
              <a:cs typeface="Bahnschrift Light" panose="020B0502040204020203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5266611" y="4367451"/>
            <a:ext cx="4097060" cy="80224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endParaRPr lang="en-US" sz="1600" dirty="0">
              <a:latin typeface="Calibri" panose="020F0502020204030204" charset="0"/>
              <a:cs typeface="Calibri" panose="020F0502020204030204" charset="0"/>
            </a:endParaRPr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0715" y="4026614"/>
            <a:ext cx="4431149" cy="66841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932075" y="4812546"/>
            <a:ext cx="2265998" cy="26110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2000" b="1" dirty="0">
                <a:solidFill>
                  <a:srgbClr val="443728"/>
                </a:solidFill>
                <a:latin typeface="Bahnschrift Light" panose="020B0502040204020203" charset="0"/>
                <a:ea typeface="Crimson Pro Bold" pitchFamily="34" charset="-122"/>
                <a:cs typeface="Bahnschrift Light" panose="020B0502040204020203" charset="0"/>
              </a:rPr>
              <a:t>Handles Long Documents</a:t>
            </a:r>
            <a:endParaRPr lang="en-US" sz="2000" dirty="0">
              <a:latin typeface="Bahnschrift Light" panose="020B0502040204020203" charset="0"/>
              <a:cs typeface="Bahnschrift Light" panose="020B0502040204020203" charset="0"/>
            </a:endParaRPr>
          </a:p>
        </p:txBody>
      </p:sp>
      <p:sp>
        <p:nvSpPr>
          <p:cNvPr id="14" name="Text 9"/>
          <p:cNvSpPr/>
          <p:nvPr/>
        </p:nvSpPr>
        <p:spPr>
          <a:xfrm>
            <a:off x="9697760" y="4367451"/>
            <a:ext cx="4097060" cy="80224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endParaRPr lang="en-US" sz="1600" dirty="0">
              <a:latin typeface="Calibri" panose="020F0502020204030204" charset="0"/>
              <a:cs typeface="Calibri" panose="020F0502020204030204" charset="0"/>
            </a:endParaRPr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417" y="5698053"/>
            <a:ext cx="4431149" cy="668417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78337" y="6533515"/>
            <a:ext cx="2089071" cy="26110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2000" b="1" dirty="0">
                <a:solidFill>
                  <a:srgbClr val="443728"/>
                </a:solidFill>
                <a:latin typeface="Bahnschrift Light" panose="020B0502040204020203" charset="0"/>
                <a:ea typeface="Crimson Pro Bold" pitchFamily="34" charset="-122"/>
                <a:cs typeface="Bahnschrift Light" panose="020B0502040204020203" charset="0"/>
              </a:rPr>
              <a:t>Improves Accuracy</a:t>
            </a:r>
            <a:endParaRPr lang="en-US" sz="2000" dirty="0">
              <a:latin typeface="Bahnschrift Light" panose="020B0502040204020203" charset="0"/>
              <a:cs typeface="Bahnschrift Light" panose="020B0502040204020203" charset="0"/>
            </a:endParaRPr>
          </a:p>
        </p:txBody>
      </p:sp>
      <p:sp>
        <p:nvSpPr>
          <p:cNvPr id="17" name="Text 11"/>
          <p:cNvSpPr/>
          <p:nvPr/>
        </p:nvSpPr>
        <p:spPr>
          <a:xfrm>
            <a:off x="978337" y="6533555"/>
            <a:ext cx="4097060" cy="80224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endParaRPr lang="en-US" sz="1600" dirty="0">
              <a:latin typeface="Calibri" panose="020F0502020204030204" charset="0"/>
              <a:cs typeface="Calibri" panose="020F0502020204030204" charset="0"/>
            </a:endParaRPr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99566" y="5698053"/>
            <a:ext cx="4431149" cy="668417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523786" y="6533515"/>
            <a:ext cx="2089071" cy="26110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2000" b="1" dirty="0">
                <a:solidFill>
                  <a:srgbClr val="443728"/>
                </a:solidFill>
                <a:latin typeface="Bahnschrift Light" panose="020B0502040204020203" charset="0"/>
                <a:ea typeface="Crimson Pro Bold" pitchFamily="34" charset="-122"/>
                <a:cs typeface="Bahnschrift Light" panose="020B0502040204020203" charset="0"/>
              </a:rPr>
              <a:t>More Efficient</a:t>
            </a:r>
            <a:endParaRPr lang="en-US" sz="2000" dirty="0">
              <a:latin typeface="Bahnschrift Light" panose="020B0502040204020203" charset="0"/>
              <a:cs typeface="Bahnschrift Light" panose="020B0502040204020203" charset="0"/>
            </a:endParaRPr>
          </a:p>
        </p:txBody>
      </p:sp>
      <p:sp>
        <p:nvSpPr>
          <p:cNvPr id="20" name="Text 13"/>
          <p:cNvSpPr/>
          <p:nvPr/>
        </p:nvSpPr>
        <p:spPr>
          <a:xfrm>
            <a:off x="8500745" y="7133590"/>
            <a:ext cx="4097020" cy="3473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endParaRPr lang="en-US" sz="1600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30" name="Text Box 29"/>
          <p:cNvSpPr txBox="1"/>
          <p:nvPr/>
        </p:nvSpPr>
        <p:spPr>
          <a:xfrm rot="21420000">
            <a:off x="12854305" y="7757795"/>
            <a:ext cx="1772285" cy="4572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noAutofit/>
          </a:bodyPr>
          <a:p>
            <a:r>
              <a:rPr lang="en-US" b="1">
                <a:latin typeface="Algerian" panose="04020705040A02060702" charset="0"/>
                <a:cs typeface="Algerian" panose="04020705040A02060702" charset="0"/>
              </a:rPr>
              <a:t> DEPI Project</a:t>
            </a:r>
            <a:endParaRPr lang="en-US" b="1">
              <a:latin typeface="Algerian" panose="04020705040A02060702" charset="0"/>
              <a:cs typeface="Algerian" panose="04020705040A02060702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185610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8517" y="2145308"/>
            <a:ext cx="6673453" cy="51399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4400" b="1" dirty="0">
                <a:solidFill>
                  <a:srgbClr val="443728"/>
                </a:solidFill>
                <a:latin typeface="Bahnschrift SemiLight" panose="020B0502040204020203" charset="0"/>
                <a:ea typeface="Crimson Pro Bold" pitchFamily="34" charset="-122"/>
                <a:cs typeface="Bahnschrift SemiLight" panose="020B0502040204020203" charset="0"/>
                <a:sym typeface="+mn-ea"/>
              </a:rPr>
              <a:t>Dataset and prepration</a:t>
            </a:r>
            <a:endParaRPr lang="en-US" altLang="en-GB" sz="4400" dirty="0">
              <a:latin typeface="Bahnschrift SemiLight" panose="020B0502040204020203" charset="0"/>
              <a:cs typeface="Bahnschrift SemiLight" panose="020B0502040204020203" charset="0"/>
            </a:endParaRPr>
          </a:p>
        </p:txBody>
      </p:sp>
      <p:sp>
        <p:nvSpPr>
          <p:cNvPr id="5" name="Shape 2"/>
          <p:cNvSpPr/>
          <p:nvPr>
            <p:custDataLst>
              <p:tags r:id="rId2"/>
            </p:custDataLst>
          </p:nvPr>
        </p:nvSpPr>
        <p:spPr>
          <a:xfrm flipH="1">
            <a:off x="7254240" y="3269615"/>
            <a:ext cx="99060" cy="4650105"/>
          </a:xfrm>
          <a:prstGeom prst="roundRect">
            <a:avLst>
              <a:gd name="adj" fmla="val 50000"/>
            </a:avLst>
          </a:prstGeom>
          <a:solidFill>
            <a:srgbClr val="D1C8C6"/>
          </a:solidFill>
        </p:spPr>
      </p:sp>
      <p:sp>
        <p:nvSpPr>
          <p:cNvPr id="6" name="Shape 3"/>
          <p:cNvSpPr/>
          <p:nvPr>
            <p:custDataLst>
              <p:tags r:id="rId3"/>
            </p:custDataLst>
          </p:nvPr>
        </p:nvSpPr>
        <p:spPr>
          <a:xfrm>
            <a:off x="6659642" y="3369112"/>
            <a:ext cx="493395" cy="22860"/>
          </a:xfrm>
          <a:prstGeom prst="roundRect">
            <a:avLst>
              <a:gd name="adj" fmla="val 302234"/>
            </a:avLst>
          </a:prstGeom>
          <a:solidFill>
            <a:srgbClr val="D1C8C6"/>
          </a:solidFill>
        </p:spPr>
      </p:sp>
      <p:sp>
        <p:nvSpPr>
          <p:cNvPr id="7" name="Shape 4"/>
          <p:cNvSpPr/>
          <p:nvPr>
            <p:custDataLst>
              <p:tags r:id="rId4"/>
            </p:custDataLst>
          </p:nvPr>
        </p:nvSpPr>
        <p:spPr>
          <a:xfrm>
            <a:off x="7153275" y="3186430"/>
            <a:ext cx="370205" cy="418465"/>
          </a:xfrm>
          <a:prstGeom prst="roundRect">
            <a:avLst>
              <a:gd name="adj" fmla="val 18671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  <p:txBody>
          <a:bodyPr/>
          <a:p>
            <a:r>
              <a:rPr lang="en-US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  <a:sym typeface="+mn-ea"/>
              </a:rPr>
              <a:t>1</a:t>
            </a:r>
            <a:endParaRPr lang="en-GB" altLang="en-US"/>
          </a:p>
        </p:txBody>
      </p:sp>
      <p:sp>
        <p:nvSpPr>
          <p:cNvPr id="9" name="Text 6"/>
          <p:cNvSpPr/>
          <p:nvPr>
            <p:custDataLst>
              <p:tags r:id="rId5"/>
            </p:custDataLst>
          </p:nvPr>
        </p:nvSpPr>
        <p:spPr>
          <a:xfrm>
            <a:off x="4479687" y="3269734"/>
            <a:ext cx="2056209" cy="25693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r">
              <a:lnSpc>
                <a:spcPts val="2000"/>
              </a:lnSpc>
              <a:buNone/>
            </a:pPr>
            <a:r>
              <a:rPr lang="en-US" altLang="en-GB" sz="3200" b="1" dirty="0">
                <a:latin typeface="Bahnschrift Light" panose="020B0502040204020203" charset="0"/>
                <a:cs typeface="Bahnschrift Light" panose="020B0502040204020203" charset="0"/>
                <a:sym typeface="+mn-ea"/>
              </a:rPr>
              <a:t>Source</a:t>
            </a:r>
            <a:endParaRPr lang="en-US" sz="3200" b="1" dirty="0">
              <a:latin typeface="Bahnschrift Light" panose="020B0502040204020203" charset="0"/>
              <a:cs typeface="Bahnschrift Light" panose="020B0502040204020203" charset="0"/>
            </a:endParaRPr>
          </a:p>
        </p:txBody>
      </p:sp>
      <p:sp>
        <p:nvSpPr>
          <p:cNvPr id="10" name="Text 7"/>
          <p:cNvSpPr/>
          <p:nvPr>
            <p:custDataLst>
              <p:tags r:id="rId6"/>
            </p:custDataLst>
          </p:nvPr>
        </p:nvSpPr>
        <p:spPr>
          <a:xfrm>
            <a:off x="0" y="3604260"/>
            <a:ext cx="6659880" cy="387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lnSpc>
                <a:spcPts val="2050"/>
              </a:lnSpc>
              <a:buNone/>
            </a:pPr>
            <a:r>
              <a:rPr lang="en-US" sz="2400" dirty="0">
                <a:solidFill>
                  <a:srgbClr val="443728"/>
                </a:solidFill>
                <a:latin typeface="Calibri" panose="020F0502020204030204" charset="0"/>
                <a:ea typeface="Open Sans" pitchFamily="34" charset="-122"/>
                <a:cs typeface="Calibri" panose="020F0502020204030204" charset="0"/>
                <a:sym typeface="+mn-ea"/>
              </a:rPr>
              <a:t>Official digital text of the Egyptian Constitution.         </a:t>
            </a:r>
            <a:endParaRPr lang="en-US" sz="2400" dirty="0">
              <a:solidFill>
                <a:srgbClr val="443728"/>
              </a:solidFill>
              <a:latin typeface="Calibri" panose="020F0502020204030204" charset="0"/>
              <a:ea typeface="Open Sans" pitchFamily="34" charset="-122"/>
              <a:cs typeface="Calibri" panose="020F0502020204030204" charset="0"/>
            </a:endParaRPr>
          </a:p>
          <a:p>
            <a:pPr marL="0" indent="0" algn="r">
              <a:lnSpc>
                <a:spcPts val="2050"/>
              </a:lnSpc>
              <a:buNone/>
            </a:pPr>
            <a:endParaRPr lang="en-US" altLang="en-GB" sz="2400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1" name="Shape 8"/>
          <p:cNvSpPr/>
          <p:nvPr>
            <p:custDataLst>
              <p:tags r:id="rId7"/>
            </p:custDataLst>
          </p:nvPr>
        </p:nvSpPr>
        <p:spPr>
          <a:xfrm>
            <a:off x="7477363" y="4306491"/>
            <a:ext cx="493395" cy="22860"/>
          </a:xfrm>
          <a:prstGeom prst="roundRect">
            <a:avLst>
              <a:gd name="adj" fmla="val 302234"/>
            </a:avLst>
          </a:prstGeom>
          <a:solidFill>
            <a:srgbClr val="D1C8C6"/>
          </a:solidFill>
        </p:spPr>
      </p:sp>
      <p:sp>
        <p:nvSpPr>
          <p:cNvPr id="12" name="Shape 9"/>
          <p:cNvSpPr/>
          <p:nvPr>
            <p:custDataLst>
              <p:tags r:id="rId8"/>
            </p:custDataLst>
          </p:nvPr>
        </p:nvSpPr>
        <p:spPr>
          <a:xfrm>
            <a:off x="7130177" y="4132263"/>
            <a:ext cx="370046" cy="370046"/>
          </a:xfrm>
          <a:prstGeom prst="roundRect">
            <a:avLst>
              <a:gd name="adj" fmla="val 18671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13" name="Text 10"/>
          <p:cNvSpPr/>
          <p:nvPr>
            <p:custDataLst>
              <p:tags r:id="rId9"/>
            </p:custDataLst>
          </p:nvPr>
        </p:nvSpPr>
        <p:spPr>
          <a:xfrm>
            <a:off x="7191851" y="4217710"/>
            <a:ext cx="246698" cy="30837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9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2</a:t>
            </a:r>
            <a:endParaRPr lang="en-US" sz="1900" dirty="0"/>
          </a:p>
        </p:txBody>
      </p:sp>
      <p:sp>
        <p:nvSpPr>
          <p:cNvPr id="14" name="Text 11"/>
          <p:cNvSpPr/>
          <p:nvPr>
            <p:custDataLst>
              <p:tags r:id="rId10"/>
            </p:custDataLst>
          </p:nvPr>
        </p:nvSpPr>
        <p:spPr>
          <a:xfrm>
            <a:off x="8094345" y="4266565"/>
            <a:ext cx="4331970" cy="23685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altLang="en-GB" sz="3200" b="1" dirty="0">
                <a:latin typeface="Bahnschrift Light" panose="020B0502040204020203" charset="0"/>
                <a:cs typeface="Bahnschrift Light" panose="020B0502040204020203" charset="0"/>
              </a:rPr>
              <a:t>Preprocessing steps:</a:t>
            </a:r>
            <a:endParaRPr lang="en-US" altLang="en-GB" sz="3200" b="1" dirty="0">
              <a:latin typeface="Bahnschrift Light" panose="020B0502040204020203" charset="0"/>
              <a:cs typeface="Bahnschrift Light" panose="020B0502040204020203" charset="0"/>
            </a:endParaRPr>
          </a:p>
        </p:txBody>
      </p:sp>
      <p:sp>
        <p:nvSpPr>
          <p:cNvPr id="15" name="Text 12"/>
          <p:cNvSpPr/>
          <p:nvPr>
            <p:custDataLst>
              <p:tags r:id="rId11"/>
            </p:custDataLst>
          </p:nvPr>
        </p:nvSpPr>
        <p:spPr>
          <a:xfrm>
            <a:off x="8094345" y="4526280"/>
            <a:ext cx="5916930" cy="13087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443728"/>
                </a:solidFill>
                <a:latin typeface="Calibri" panose="020F0502020204030204" charset="0"/>
                <a:ea typeface="Open Sans" pitchFamily="34" charset="-122"/>
                <a:cs typeface="Calibri" panose="020F0502020204030204" charset="0"/>
              </a:rPr>
              <a:t>Text cleaning </a:t>
            </a:r>
            <a:endParaRPr lang="en-US" sz="2400" dirty="0">
              <a:solidFill>
                <a:srgbClr val="443728"/>
              </a:solidFill>
              <a:latin typeface="Calibri" panose="020F0502020204030204" charset="0"/>
              <a:ea typeface="Open Sans" pitchFamily="34" charset="-122"/>
              <a:cs typeface="Calibri" panose="020F0502020204030204" charset="0"/>
            </a:endParaRPr>
          </a:p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443728"/>
                </a:solidFill>
                <a:latin typeface="Calibri" panose="020F0502020204030204" charset="0"/>
                <a:ea typeface="Open Sans" pitchFamily="34" charset="-122"/>
                <a:cs typeface="Calibri" panose="020F0502020204030204" charset="0"/>
              </a:rPr>
              <a:t>Splitting into chunks  </a:t>
            </a:r>
            <a:endParaRPr lang="en-US" sz="2400" dirty="0">
              <a:solidFill>
                <a:srgbClr val="443728"/>
              </a:solidFill>
              <a:latin typeface="Calibri" panose="020F0502020204030204" charset="0"/>
              <a:ea typeface="Open Sans" pitchFamily="34" charset="-122"/>
              <a:cs typeface="Calibri" panose="020F0502020204030204" charset="0"/>
            </a:endParaRPr>
          </a:p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443728"/>
                </a:solidFill>
                <a:latin typeface="Calibri" panose="020F0502020204030204" charset="0"/>
                <a:ea typeface="Open Sans" pitchFamily="34" charset="-122"/>
                <a:cs typeface="Calibri" panose="020F0502020204030204" charset="0"/>
              </a:rPr>
              <a:t>Removing Noise and formatting issues</a:t>
            </a:r>
            <a:r>
              <a:rPr lang="en-US" sz="2000" dirty="0">
                <a:solidFill>
                  <a:srgbClr val="443728"/>
                </a:solidFill>
                <a:latin typeface="Calibri" panose="020F0502020204030204" charset="0"/>
                <a:ea typeface="Open Sans" pitchFamily="34" charset="-122"/>
                <a:cs typeface="Calibri" panose="020F0502020204030204" charset="0"/>
              </a:rPr>
              <a:t> </a:t>
            </a:r>
            <a:endParaRPr lang="en-US" sz="2000" dirty="0">
              <a:solidFill>
                <a:srgbClr val="443728"/>
              </a:solidFill>
              <a:latin typeface="Calibri" panose="020F0502020204030204" charset="0"/>
              <a:ea typeface="Open Sans" pitchFamily="34" charset="-122"/>
              <a:cs typeface="Calibri" panose="020F0502020204030204" charset="0"/>
            </a:endParaRPr>
          </a:p>
          <a:p>
            <a:pPr marL="285750" indent="-285750" algn="l">
              <a:lnSpc>
                <a:spcPts val="2050"/>
              </a:lnSpc>
              <a:buFont typeface="Arial" panose="020B0604020202020204" pitchFamily="34" charset="0"/>
              <a:buChar char="•"/>
            </a:pPr>
            <a:endParaRPr lang="en-US" sz="2000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6" name="Shape 13"/>
          <p:cNvSpPr/>
          <p:nvPr>
            <p:custDataLst>
              <p:tags r:id="rId12"/>
            </p:custDataLst>
          </p:nvPr>
        </p:nvSpPr>
        <p:spPr>
          <a:xfrm>
            <a:off x="6659642" y="6043652"/>
            <a:ext cx="493395" cy="22860"/>
          </a:xfrm>
          <a:prstGeom prst="roundRect">
            <a:avLst>
              <a:gd name="adj" fmla="val 302234"/>
            </a:avLst>
          </a:prstGeom>
          <a:solidFill>
            <a:srgbClr val="D1C8C6"/>
          </a:solidFill>
        </p:spPr>
      </p:sp>
      <p:sp>
        <p:nvSpPr>
          <p:cNvPr id="17" name="Shape 14"/>
          <p:cNvSpPr/>
          <p:nvPr>
            <p:custDataLst>
              <p:tags r:id="rId13"/>
            </p:custDataLst>
          </p:nvPr>
        </p:nvSpPr>
        <p:spPr>
          <a:xfrm>
            <a:off x="7130177" y="5870059"/>
            <a:ext cx="370046" cy="370046"/>
          </a:xfrm>
          <a:prstGeom prst="roundRect">
            <a:avLst>
              <a:gd name="adj" fmla="val 18671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  <p:txBody>
          <a:bodyPr/>
          <a:p>
            <a:endParaRPr lang="en-GB" altLang="en-US"/>
          </a:p>
        </p:txBody>
      </p:sp>
      <p:sp>
        <p:nvSpPr>
          <p:cNvPr id="18" name="Text 15"/>
          <p:cNvSpPr/>
          <p:nvPr>
            <p:custDataLst>
              <p:tags r:id="rId14"/>
            </p:custDataLst>
          </p:nvPr>
        </p:nvSpPr>
        <p:spPr>
          <a:xfrm>
            <a:off x="7191851" y="5935821"/>
            <a:ext cx="246698" cy="30837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9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3</a:t>
            </a:r>
            <a:endParaRPr lang="en-US" sz="1900" dirty="0"/>
          </a:p>
        </p:txBody>
      </p:sp>
      <p:sp>
        <p:nvSpPr>
          <p:cNvPr id="19" name="Text 16"/>
          <p:cNvSpPr/>
          <p:nvPr>
            <p:custDataLst>
              <p:tags r:id="rId15"/>
            </p:custDataLst>
          </p:nvPr>
        </p:nvSpPr>
        <p:spPr>
          <a:xfrm>
            <a:off x="2197735" y="5935980"/>
            <a:ext cx="4338320" cy="4737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r">
              <a:lnSpc>
                <a:spcPts val="2000"/>
              </a:lnSpc>
              <a:buNone/>
            </a:pPr>
            <a:r>
              <a:rPr lang="en-US" altLang="en-GB" sz="3200" b="1" dirty="0">
                <a:latin typeface="Bahnschrift Light" panose="020B0502040204020203" charset="0"/>
                <a:cs typeface="Bahnschrift Light" panose="020B0502040204020203" charset="0"/>
              </a:rPr>
              <a:t>Embedding Generation</a:t>
            </a:r>
            <a:endParaRPr lang="en-US" altLang="en-GB" sz="3200" b="1" dirty="0">
              <a:latin typeface="Bahnschrift Light" panose="020B0502040204020203" charset="0"/>
              <a:cs typeface="Bahnschrift Light" panose="020B0502040204020203" charset="0"/>
            </a:endParaRPr>
          </a:p>
        </p:txBody>
      </p:sp>
      <p:sp>
        <p:nvSpPr>
          <p:cNvPr id="20" name="Text 17"/>
          <p:cNvSpPr/>
          <p:nvPr>
            <p:custDataLst>
              <p:tags r:id="rId16"/>
            </p:custDataLst>
          </p:nvPr>
        </p:nvSpPr>
        <p:spPr>
          <a:xfrm>
            <a:off x="741680" y="6257290"/>
            <a:ext cx="6758305" cy="5264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indent="0" algn="l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2400" dirty="0">
                <a:solidFill>
                  <a:srgbClr val="443728"/>
                </a:solidFill>
                <a:latin typeface="Calibri" panose="020F0502020204030204" charset="0"/>
                <a:ea typeface="Open Sans" pitchFamily="34" charset="-122"/>
                <a:cs typeface="Calibri" panose="020F0502020204030204" charset="0"/>
                <a:sym typeface="+mn-ea"/>
              </a:rPr>
              <a:t>Convert chunks into vector embeddings. </a:t>
            </a:r>
            <a:endParaRPr lang="en-US" sz="2400" dirty="0"/>
          </a:p>
        </p:txBody>
      </p:sp>
      <p:sp>
        <p:nvSpPr>
          <p:cNvPr id="21" name="Shape 18"/>
          <p:cNvSpPr/>
          <p:nvPr>
            <p:custDataLst>
              <p:tags r:id="rId17"/>
            </p:custDataLst>
          </p:nvPr>
        </p:nvSpPr>
        <p:spPr>
          <a:xfrm>
            <a:off x="7477363" y="7148354"/>
            <a:ext cx="493395" cy="22860"/>
          </a:xfrm>
          <a:prstGeom prst="roundRect">
            <a:avLst>
              <a:gd name="adj" fmla="val 302234"/>
            </a:avLst>
          </a:prstGeom>
          <a:solidFill>
            <a:srgbClr val="D1C8C6"/>
          </a:solidFill>
        </p:spPr>
      </p:sp>
      <p:sp>
        <p:nvSpPr>
          <p:cNvPr id="22" name="Shape 19"/>
          <p:cNvSpPr/>
          <p:nvPr>
            <p:custDataLst>
              <p:tags r:id="rId18"/>
            </p:custDataLst>
          </p:nvPr>
        </p:nvSpPr>
        <p:spPr>
          <a:xfrm>
            <a:off x="7130177" y="6974126"/>
            <a:ext cx="370046" cy="370046"/>
          </a:xfrm>
          <a:prstGeom prst="roundRect">
            <a:avLst>
              <a:gd name="adj" fmla="val 18671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23" name="Text 20"/>
          <p:cNvSpPr/>
          <p:nvPr>
            <p:custDataLst>
              <p:tags r:id="rId19"/>
            </p:custDataLst>
          </p:nvPr>
        </p:nvSpPr>
        <p:spPr>
          <a:xfrm>
            <a:off x="7191216" y="7036078"/>
            <a:ext cx="246698" cy="30837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9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4</a:t>
            </a:r>
            <a:endParaRPr lang="en-US" sz="1900" dirty="0"/>
          </a:p>
        </p:txBody>
      </p:sp>
      <p:sp>
        <p:nvSpPr>
          <p:cNvPr id="24" name="Text 21"/>
          <p:cNvSpPr/>
          <p:nvPr>
            <p:custDataLst>
              <p:tags r:id="rId20"/>
            </p:custDataLst>
          </p:nvPr>
        </p:nvSpPr>
        <p:spPr>
          <a:xfrm>
            <a:off x="8071485" y="6983730"/>
            <a:ext cx="5895340" cy="7962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altLang="en-GB" sz="3200" b="1" dirty="0">
                <a:latin typeface="Bahnschrift Light" panose="020B0502040204020203" charset="0"/>
                <a:cs typeface="Bahnschrift Light" panose="020B0502040204020203" charset="0"/>
              </a:rPr>
              <a:t>Storage in Chroma Vector</a:t>
            </a:r>
            <a:endParaRPr lang="en-US" altLang="en-GB" sz="3200" b="1" dirty="0">
              <a:latin typeface="Bahnschrift Light" panose="020B0502040204020203" charset="0"/>
              <a:cs typeface="Bahnschrift Light" panose="020B0502040204020203" charset="0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en-US" altLang="en-GB" sz="3200" b="1" dirty="0">
                <a:latin typeface="Bahnschrift Light" panose="020B0502040204020203" charset="0"/>
                <a:cs typeface="Bahnschrift Light" panose="020B0502040204020203" charset="0"/>
              </a:rPr>
              <a:t>Database</a:t>
            </a:r>
            <a:endParaRPr lang="en-US" altLang="en-GB" sz="3200" b="1" dirty="0">
              <a:latin typeface="Bahnschrift Light" panose="020B0502040204020203" charset="0"/>
              <a:cs typeface="Bahnschrift Light" panose="020B0502040204020203" charset="0"/>
            </a:endParaRPr>
          </a:p>
        </p:txBody>
      </p:sp>
      <p:sp>
        <p:nvSpPr>
          <p:cNvPr id="30" name="Text Box 29"/>
          <p:cNvSpPr txBox="1"/>
          <p:nvPr/>
        </p:nvSpPr>
        <p:spPr>
          <a:xfrm rot="21420000">
            <a:off x="12854305" y="7757795"/>
            <a:ext cx="1772285" cy="4572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noAutofit/>
          </a:bodyPr>
          <a:p>
            <a:r>
              <a:rPr lang="en-US" b="1">
                <a:latin typeface="Algerian" panose="04020705040A02060702" charset="0"/>
                <a:cs typeface="Algerian" panose="04020705040A02060702" charset="0"/>
              </a:rPr>
              <a:t> DEPI Project</a:t>
            </a:r>
            <a:endParaRPr lang="en-US" b="1">
              <a:latin typeface="Algerian" panose="04020705040A02060702" charset="0"/>
              <a:cs typeface="Algerian" panose="04020705040A02060702" charset="0"/>
            </a:endParaRPr>
          </a:p>
        </p:txBody>
      </p:sp>
      <p:sp>
        <p:nvSpPr>
          <p:cNvPr id="28" name="Freeform 4"/>
          <p:cNvSpPr/>
          <p:nvPr/>
        </p:nvSpPr>
        <p:spPr>
          <a:xfrm>
            <a:off x="10435590" y="1969770"/>
            <a:ext cx="1431925" cy="1068705"/>
          </a:xfrm>
          <a:custGeom>
            <a:avLst/>
            <a:gdLst/>
            <a:ahLst/>
            <a:cxnLst/>
            <a:rect l="l" t="t" r="r" b="b"/>
            <a:pathLst>
              <a:path w="4455000" h="4114800">
                <a:moveTo>
                  <a:pt x="0" y="0"/>
                </a:moveTo>
                <a:lnTo>
                  <a:pt x="4455000" y="0"/>
                </a:lnTo>
                <a:lnTo>
                  <a:pt x="44550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3425" y="823595"/>
            <a:ext cx="7712075" cy="36766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4400" b="1" dirty="0">
                <a:solidFill>
                  <a:srgbClr val="443728"/>
                </a:solidFill>
                <a:latin typeface="Bahnschrift SemiLight" panose="020B0502040204020203" charset="0"/>
                <a:ea typeface="Crimson Pro Bold" pitchFamily="34" charset="-122"/>
                <a:cs typeface="Bahnschrift SemiLight" panose="020B0502040204020203" charset="0"/>
              </a:rPr>
              <a:t>System Architecture Overview</a:t>
            </a:r>
            <a:endParaRPr lang="en-US" sz="4400" dirty="0">
              <a:latin typeface="Bahnschrift SemiLight" panose="020B0502040204020203" charset="0"/>
              <a:cs typeface="Bahnschrift SemiLight" panose="020B0502040204020203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33425" y="1514793"/>
            <a:ext cx="13163550" cy="5867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300" dirty="0">
                <a:solidFill>
                  <a:srgbClr val="443728"/>
                </a:solidFill>
                <a:latin typeface="Calibri" panose="020F0502020204030204" charset="0"/>
                <a:ea typeface="Open Sans" pitchFamily="34" charset="-122"/>
                <a:cs typeface="Calibri" panose="020F0502020204030204" charset="0"/>
              </a:rPr>
              <a:t>The RAG-based Chatbot for the Egyptian Constitution operates on a sophisticated architecture designed for efficiency, accuracy, and scalability. This diagram illustrates the flow from a user's query to the chatbot's informed response.</a:t>
            </a:r>
            <a:endParaRPr lang="en-US" sz="2300" dirty="0">
              <a:latin typeface="Calibri" panose="020F0502020204030204" charset="0"/>
              <a:cs typeface="Calibri" panose="020F0502020204030204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761" y="1915954"/>
            <a:ext cx="11978759" cy="6344722"/>
          </a:xfrm>
          <a:prstGeom prst="rect">
            <a:avLst/>
          </a:prstGeom>
        </p:spPr>
      </p:pic>
      <p:sp>
        <p:nvSpPr>
          <p:cNvPr id="5" name="Text 2"/>
          <p:cNvSpPr/>
          <p:nvPr>
            <p:custDataLst>
              <p:tags r:id="rId2"/>
            </p:custDataLst>
          </p:nvPr>
        </p:nvSpPr>
        <p:spPr>
          <a:xfrm>
            <a:off x="2984252" y="6450511"/>
            <a:ext cx="2961747" cy="37021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3200" b="1" dirty="0">
                <a:solidFill>
                  <a:srgbClr val="443728"/>
                </a:solidFill>
                <a:latin typeface="Bahnschrift Light" panose="020B0502040204020203" charset="0"/>
                <a:ea typeface="Crimson Pro Bold" pitchFamily="34" charset="-122"/>
                <a:cs typeface="Bahnschrift Light" panose="020B0502040204020203" charset="0"/>
              </a:rPr>
              <a:t>Frontend Interface</a:t>
            </a:r>
            <a:endParaRPr lang="en-US" sz="3200" dirty="0">
              <a:latin typeface="Bahnschrift Light" panose="020B0502040204020203" charset="0"/>
              <a:cs typeface="Bahnschrift Light" panose="020B0502040204020203" charset="0"/>
            </a:endParaRPr>
          </a:p>
        </p:txBody>
      </p:sp>
      <p:sp>
        <p:nvSpPr>
          <p:cNvPr id="6" name="Text 3"/>
          <p:cNvSpPr/>
          <p:nvPr>
            <p:custDataLst>
              <p:tags r:id="rId3"/>
            </p:custDataLst>
          </p:nvPr>
        </p:nvSpPr>
        <p:spPr>
          <a:xfrm>
            <a:off x="2773639" y="6926036"/>
            <a:ext cx="3172360" cy="59234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70000"/>
              </a:lnSpc>
              <a:buNone/>
            </a:pPr>
            <a:r>
              <a:rPr lang="en-US" sz="2200" dirty="0">
                <a:solidFill>
                  <a:srgbClr val="443728"/>
                </a:solidFill>
                <a:latin typeface="Calibri" panose="020F0502020204030204" charset="0"/>
                <a:ea typeface="Open Sans" pitchFamily="34" charset="-122"/>
                <a:cs typeface="Calibri" panose="020F0502020204030204" charset="0"/>
              </a:rPr>
              <a:t>The user-facing application layer.</a:t>
            </a:r>
            <a:endParaRPr lang="en-US" sz="2200" dirty="0">
              <a:solidFill>
                <a:srgbClr val="443728"/>
              </a:solidFill>
              <a:latin typeface="Calibri" panose="020F0502020204030204" charset="0"/>
              <a:ea typeface="Open Sans" pitchFamily="34" charset="-122"/>
              <a:cs typeface="Calibri" panose="020F0502020204030204" charset="0"/>
            </a:endParaRPr>
          </a:p>
        </p:txBody>
      </p:sp>
      <p:sp>
        <p:nvSpPr>
          <p:cNvPr id="7" name="Text 4"/>
          <p:cNvSpPr/>
          <p:nvPr>
            <p:custDataLst>
              <p:tags r:id="rId4"/>
            </p:custDataLst>
          </p:nvPr>
        </p:nvSpPr>
        <p:spPr>
          <a:xfrm>
            <a:off x="1775715" y="3167100"/>
            <a:ext cx="2961747" cy="37021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3200" b="1" dirty="0">
                <a:solidFill>
                  <a:srgbClr val="443728"/>
                </a:solidFill>
                <a:latin typeface="Bahnschrift Light" panose="020B0502040204020203" charset="0"/>
                <a:ea typeface="Crimson Pro Bold" pitchFamily="34" charset="-122"/>
                <a:cs typeface="Bahnschrift Light" panose="020B0502040204020203" charset="0"/>
              </a:rPr>
              <a:t>Backend (FastAPI)</a:t>
            </a:r>
            <a:endParaRPr lang="en-US" sz="3200" dirty="0">
              <a:latin typeface="Bahnschrift Light" panose="020B0502040204020203" charset="0"/>
              <a:cs typeface="Bahnschrift Light" panose="020B0502040204020203" charset="0"/>
            </a:endParaRPr>
          </a:p>
        </p:txBody>
      </p:sp>
      <p:sp>
        <p:nvSpPr>
          <p:cNvPr id="8" name="Text 5"/>
          <p:cNvSpPr/>
          <p:nvPr>
            <p:custDataLst>
              <p:tags r:id="rId5"/>
            </p:custDataLst>
          </p:nvPr>
        </p:nvSpPr>
        <p:spPr>
          <a:xfrm>
            <a:off x="1454785" y="3537585"/>
            <a:ext cx="405384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2200" dirty="0">
                <a:solidFill>
                  <a:srgbClr val="443728"/>
                </a:solidFill>
                <a:latin typeface="Calibri" panose="020F0502020204030204" charset="0"/>
                <a:ea typeface="Open Sans" pitchFamily="34" charset="-122"/>
                <a:cs typeface="Calibri" panose="020F0502020204030204" charset="0"/>
              </a:rPr>
              <a:t>The server-side logic and API endpoints.</a:t>
            </a:r>
            <a:endParaRPr lang="en-US" sz="2200" dirty="0">
              <a:solidFill>
                <a:srgbClr val="443728"/>
              </a:solidFill>
              <a:latin typeface="Calibri" panose="020F0502020204030204" charset="0"/>
              <a:ea typeface="Open Sans" pitchFamily="34" charset="-122"/>
              <a:cs typeface="Calibri" panose="020F0502020204030204" charset="0"/>
            </a:endParaRPr>
          </a:p>
        </p:txBody>
      </p:sp>
      <p:sp>
        <p:nvSpPr>
          <p:cNvPr id="9" name="Text 6"/>
          <p:cNvSpPr/>
          <p:nvPr>
            <p:custDataLst>
              <p:tags r:id="rId6"/>
            </p:custDataLst>
          </p:nvPr>
        </p:nvSpPr>
        <p:spPr>
          <a:xfrm>
            <a:off x="8723458" y="3028035"/>
            <a:ext cx="2961747" cy="37021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3200" b="1" dirty="0">
                <a:solidFill>
                  <a:srgbClr val="443728"/>
                </a:solidFill>
                <a:latin typeface="Bahnschrift Light" panose="020B0502040204020203" charset="0"/>
                <a:ea typeface="Crimson Pro Bold" pitchFamily="34" charset="-122"/>
                <a:cs typeface="Bahnschrift Light" panose="020B0502040204020203" charset="0"/>
              </a:rPr>
              <a:t>RAG Pipeline</a:t>
            </a:r>
            <a:endParaRPr lang="en-US" sz="3200" dirty="0">
              <a:latin typeface="Bahnschrift Light" panose="020B0502040204020203" charset="0"/>
              <a:cs typeface="Bahnschrift Light" panose="020B0502040204020203" charset="0"/>
            </a:endParaRPr>
          </a:p>
        </p:txBody>
      </p:sp>
      <p:sp>
        <p:nvSpPr>
          <p:cNvPr id="10" name="Text 7"/>
          <p:cNvSpPr/>
          <p:nvPr>
            <p:custDataLst>
              <p:tags r:id="rId7"/>
            </p:custDataLst>
          </p:nvPr>
        </p:nvSpPr>
        <p:spPr>
          <a:xfrm>
            <a:off x="8723458" y="3398785"/>
            <a:ext cx="3172360" cy="59234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2200" dirty="0">
                <a:solidFill>
                  <a:srgbClr val="443728"/>
                </a:solidFill>
                <a:latin typeface="Calibri" panose="020F0502020204030204" charset="0"/>
                <a:ea typeface="Open Sans" pitchFamily="34" charset="-122"/>
                <a:cs typeface="Calibri" panose="020F0502020204030204" charset="0"/>
              </a:rPr>
              <a:t>Retrieval-Augmented Generation processing.</a:t>
            </a:r>
            <a:endParaRPr lang="en-US" sz="2200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1" name="Text 8"/>
          <p:cNvSpPr/>
          <p:nvPr>
            <p:custDataLst>
              <p:tags r:id="rId8"/>
            </p:custDataLst>
          </p:nvPr>
        </p:nvSpPr>
        <p:spPr>
          <a:xfrm>
            <a:off x="9842341" y="6450717"/>
            <a:ext cx="2961747" cy="37021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3200" b="1" dirty="0">
                <a:solidFill>
                  <a:srgbClr val="443728"/>
                </a:solidFill>
                <a:latin typeface="Bahnschrift Light" panose="020B0502040204020203" charset="0"/>
                <a:ea typeface="Crimson Pro Bold" pitchFamily="34" charset="-122"/>
                <a:cs typeface="Bahnschrift Light" panose="020B0502040204020203" charset="0"/>
              </a:rPr>
              <a:t>Data Storage</a:t>
            </a:r>
            <a:endParaRPr lang="en-US" sz="3200" dirty="0">
              <a:latin typeface="Bahnschrift Light" panose="020B0502040204020203" charset="0"/>
              <a:cs typeface="Bahnschrift Light" panose="020B0502040204020203" charset="0"/>
            </a:endParaRPr>
          </a:p>
        </p:txBody>
      </p:sp>
      <p:sp>
        <p:nvSpPr>
          <p:cNvPr id="12" name="Text 9"/>
          <p:cNvSpPr/>
          <p:nvPr>
            <p:custDataLst>
              <p:tags r:id="rId9"/>
            </p:custDataLst>
          </p:nvPr>
        </p:nvSpPr>
        <p:spPr>
          <a:xfrm>
            <a:off x="9842341" y="6926242"/>
            <a:ext cx="3172360" cy="59234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70000"/>
              </a:lnSpc>
              <a:buNone/>
            </a:pPr>
            <a:r>
              <a:rPr lang="en-US" sz="2200" dirty="0">
                <a:solidFill>
                  <a:srgbClr val="443728"/>
                </a:solidFill>
                <a:latin typeface="Calibri" panose="020F0502020204030204" charset="0"/>
                <a:ea typeface="Open Sans" pitchFamily="34" charset="-122"/>
                <a:cs typeface="Calibri" panose="020F0502020204030204" charset="0"/>
              </a:rPr>
              <a:t>The underlying database and storage systems.</a:t>
            </a:r>
            <a:endParaRPr lang="en-US" sz="2200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30" name="Text Box 29"/>
          <p:cNvSpPr txBox="1"/>
          <p:nvPr/>
        </p:nvSpPr>
        <p:spPr>
          <a:xfrm rot="21420000">
            <a:off x="12854305" y="7757795"/>
            <a:ext cx="1772285" cy="4572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noAutofit/>
          </a:bodyPr>
          <a:p>
            <a:r>
              <a:rPr lang="en-US" b="1">
                <a:latin typeface="Algerian" panose="04020705040A02060702" charset="0"/>
                <a:cs typeface="Algerian" panose="04020705040A02060702" charset="0"/>
              </a:rPr>
              <a:t> DEPI Project</a:t>
            </a:r>
            <a:endParaRPr lang="en-US" b="1">
              <a:latin typeface="Algerian" panose="04020705040A02060702" charset="0"/>
              <a:cs typeface="Algerian" panose="04020705040A02060702" charset="0"/>
            </a:endParaRPr>
          </a:p>
        </p:txBody>
      </p:sp>
      <p:sp>
        <p:nvSpPr>
          <p:cNvPr id="13" name="Freeform 9"/>
          <p:cNvSpPr/>
          <p:nvPr/>
        </p:nvSpPr>
        <p:spPr>
          <a:xfrm>
            <a:off x="13099415" y="230505"/>
            <a:ext cx="1282700" cy="960755"/>
          </a:xfrm>
          <a:custGeom>
            <a:avLst/>
            <a:gdLst/>
            <a:ahLst/>
            <a:cxnLst/>
            <a:rect l="l" t="t" r="r" b="b"/>
            <a:pathLst>
              <a:path w="2088590" h="2428593">
                <a:moveTo>
                  <a:pt x="0" y="0"/>
                </a:moveTo>
                <a:lnTo>
                  <a:pt x="2088590" y="0"/>
                </a:lnTo>
                <a:lnTo>
                  <a:pt x="2088590" y="2428593"/>
                </a:lnTo>
                <a:lnTo>
                  <a:pt x="0" y="242859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hape 7"/>
          <p:cNvSpPr/>
          <p:nvPr/>
        </p:nvSpPr>
        <p:spPr>
          <a:xfrm>
            <a:off x="7614285" y="3215640"/>
            <a:ext cx="6440805" cy="1066800"/>
          </a:xfrm>
          <a:prstGeom prst="roundRect">
            <a:avLst>
              <a:gd name="adj" fmla="val 32260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27" name="Shape 7"/>
          <p:cNvSpPr/>
          <p:nvPr/>
        </p:nvSpPr>
        <p:spPr>
          <a:xfrm>
            <a:off x="7614285" y="1741805"/>
            <a:ext cx="6440805" cy="1066800"/>
          </a:xfrm>
          <a:prstGeom prst="roundRect">
            <a:avLst>
              <a:gd name="adj" fmla="val 32260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26" name="Shape 7"/>
          <p:cNvSpPr/>
          <p:nvPr/>
        </p:nvSpPr>
        <p:spPr>
          <a:xfrm>
            <a:off x="777240" y="4866005"/>
            <a:ext cx="6440805" cy="1066800"/>
          </a:xfrm>
          <a:prstGeom prst="roundRect">
            <a:avLst>
              <a:gd name="adj" fmla="val 32260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25" name="Shape 7"/>
          <p:cNvSpPr/>
          <p:nvPr/>
        </p:nvSpPr>
        <p:spPr>
          <a:xfrm>
            <a:off x="777240" y="1741805"/>
            <a:ext cx="6440805" cy="1066800"/>
          </a:xfrm>
          <a:prstGeom prst="roundRect">
            <a:avLst>
              <a:gd name="adj" fmla="val 32260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2" name="Text 0"/>
          <p:cNvSpPr/>
          <p:nvPr/>
        </p:nvSpPr>
        <p:spPr>
          <a:xfrm>
            <a:off x="777240" y="534352"/>
            <a:ext cx="4239578" cy="4857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4400" b="1" dirty="0">
                <a:solidFill>
                  <a:srgbClr val="443728"/>
                </a:solidFill>
                <a:latin typeface="Bahnschrift SemiLight" panose="020B0502040204020203" charset="0"/>
                <a:ea typeface="Crimson Pro Bold" pitchFamily="34" charset="-122"/>
                <a:cs typeface="Bahnschrift SemiLight" panose="020B0502040204020203" charset="0"/>
              </a:rPr>
              <a:t>Architecture Components</a:t>
            </a:r>
            <a:endParaRPr lang="en-US" sz="4400" dirty="0">
              <a:latin typeface="Bahnschrift SemiLight" panose="020B0502040204020203" charset="0"/>
              <a:cs typeface="Bahnschrift SemiLight" panose="020B0502040204020203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1677035" y="2123123"/>
            <a:ext cx="2439829" cy="30360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3200" b="1" dirty="0">
                <a:solidFill>
                  <a:srgbClr val="443728"/>
                </a:solidFill>
                <a:latin typeface="Calibri" panose="020F0502020204030204" charset="0"/>
                <a:ea typeface="Crimson Pro Bold" pitchFamily="34" charset="-122"/>
                <a:cs typeface="Calibri" panose="020F0502020204030204" charset="0"/>
                <a:sym typeface="+mn-ea"/>
              </a:rPr>
              <a:t>Frontend Web Interface</a:t>
            </a:r>
            <a:endParaRPr lang="en-US" sz="3200" b="1" dirty="0"/>
          </a:p>
        </p:txBody>
      </p:sp>
      <p:sp>
        <p:nvSpPr>
          <p:cNvPr id="5" name="Text 3"/>
          <p:cNvSpPr/>
          <p:nvPr/>
        </p:nvSpPr>
        <p:spPr>
          <a:xfrm>
            <a:off x="979170" y="2426970"/>
            <a:ext cx="6036945" cy="3308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27490" y="2123123"/>
            <a:ext cx="2429113" cy="30360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just">
              <a:lnSpc>
                <a:spcPts val="2350"/>
              </a:lnSpc>
              <a:buNone/>
            </a:pPr>
            <a:r>
              <a:rPr lang="en-US" sz="3200" b="1" dirty="0">
                <a:solidFill>
                  <a:srgbClr val="443728"/>
                </a:solidFill>
                <a:latin typeface="Calibri" panose="020F0502020204030204" charset="0"/>
                <a:ea typeface="Crimson Pro Bold" pitchFamily="34" charset="-122"/>
                <a:cs typeface="Calibri" panose="020F0502020204030204" charset="0"/>
              </a:rPr>
              <a:t>Backend (FastAPI)</a:t>
            </a:r>
            <a:endParaRPr lang="en-US" sz="3200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614285" y="2030849"/>
            <a:ext cx="6036945" cy="6217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77240" y="3225800"/>
            <a:ext cx="6440805" cy="1066800"/>
          </a:xfrm>
          <a:prstGeom prst="roundRect">
            <a:avLst>
              <a:gd name="adj" fmla="val 32260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77035" y="3530798"/>
            <a:ext cx="2429113" cy="30360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3200" b="1" dirty="0">
                <a:solidFill>
                  <a:srgbClr val="443728"/>
                </a:solidFill>
                <a:latin typeface="Calibri" panose="020F0502020204030204" charset="0"/>
                <a:ea typeface="Crimson Pro Bold" pitchFamily="34" charset="-122"/>
                <a:cs typeface="Calibri" panose="020F0502020204030204" charset="0"/>
              </a:rPr>
              <a:t>Faiss Vector Database</a:t>
            </a:r>
            <a:endParaRPr lang="en-US" sz="3200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979170" y="3670935"/>
            <a:ext cx="6036945" cy="6217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218295" y="3518733"/>
            <a:ext cx="2429113" cy="30360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3200" b="1" dirty="0">
                <a:solidFill>
                  <a:srgbClr val="443728"/>
                </a:solidFill>
                <a:latin typeface="Calibri" panose="020F0502020204030204" charset="0"/>
                <a:ea typeface="Crimson Pro Bold" pitchFamily="34" charset="-122"/>
                <a:cs typeface="Calibri" panose="020F0502020204030204" charset="0"/>
              </a:rPr>
              <a:t>Embedding Model</a:t>
            </a:r>
            <a:endParaRPr lang="en-US" sz="3200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614285" y="3670935"/>
            <a:ext cx="6036945" cy="6217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783205" y="5205809"/>
            <a:ext cx="2429113" cy="30360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3200" b="1" dirty="0">
                <a:solidFill>
                  <a:srgbClr val="443728"/>
                </a:solidFill>
                <a:latin typeface="Calibri" panose="020F0502020204030204" charset="0"/>
                <a:ea typeface="Crimson Pro Bold" pitchFamily="34" charset="-122"/>
                <a:cs typeface="Calibri" panose="020F0502020204030204" charset="0"/>
              </a:rPr>
              <a:t>LLM Model</a:t>
            </a:r>
            <a:endParaRPr lang="en-US" sz="3200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979170" y="5311021"/>
            <a:ext cx="6036945" cy="6217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620635" y="4688840"/>
            <a:ext cx="6434455" cy="3009900"/>
          </a:xfrm>
          <a:prstGeom prst="roundRect">
            <a:avLst>
              <a:gd name="adj" fmla="val 15496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20250" y="4890849"/>
            <a:ext cx="2429113" cy="30360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3200" b="1" dirty="0">
                <a:solidFill>
                  <a:srgbClr val="443728"/>
                </a:solidFill>
                <a:latin typeface="Calibri" panose="020F0502020204030204" charset="0"/>
                <a:ea typeface="Crimson Pro Bold" pitchFamily="34" charset="-122"/>
                <a:cs typeface="Calibri" panose="020F0502020204030204" charset="0"/>
              </a:rPr>
              <a:t>RAG Pipeline</a:t>
            </a:r>
            <a:endParaRPr lang="en-US" sz="3200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951470" y="5311140"/>
            <a:ext cx="5694045" cy="62166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dirty="0">
                <a:solidFill>
                  <a:srgbClr val="443728"/>
                </a:solidFill>
                <a:latin typeface="Arial" panose="020B0604020202020204" pitchFamily="34" charset="0"/>
                <a:ea typeface="Open Sans" pitchFamily="34" charset="-122"/>
                <a:cs typeface="Arial" panose="020B0604020202020204" pitchFamily="34" charset="0"/>
              </a:rPr>
              <a:t>The integrated process ensuring answers are grounded in the constitutional text: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951470" y="6049645"/>
            <a:ext cx="5699760" cy="3111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2000" dirty="0">
                <a:solidFill>
                  <a:srgbClr val="443728"/>
                </a:solidFill>
                <a:latin typeface="Calibri" panose="020F0502020204030204" charset="0"/>
                <a:ea typeface="Open Sans" pitchFamily="34" charset="-122"/>
                <a:cs typeface="Calibri" panose="020F0502020204030204" charset="0"/>
              </a:rPr>
              <a:t>User Query Initiation</a:t>
            </a:r>
            <a:endParaRPr lang="en-US" sz="2000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7951470" y="6428105"/>
            <a:ext cx="5699760" cy="3111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2000" dirty="0">
                <a:solidFill>
                  <a:srgbClr val="443728"/>
                </a:solidFill>
                <a:latin typeface="Calibri" panose="020F0502020204030204" charset="0"/>
                <a:ea typeface="Open Sans" pitchFamily="34" charset="-122"/>
                <a:cs typeface="Calibri" panose="020F0502020204030204" charset="0"/>
              </a:rPr>
              <a:t>Vector Retrieval from Faiss</a:t>
            </a:r>
            <a:endParaRPr lang="ar-EG" altLang="en-US" sz="2000" dirty="0">
              <a:solidFill>
                <a:srgbClr val="443728"/>
              </a:solidFill>
              <a:latin typeface="Calibri" panose="020F0502020204030204" charset="0"/>
              <a:ea typeface="Open Sans" pitchFamily="34" charset="-122"/>
              <a:cs typeface="Calibri" panose="020F050202020403020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951470" y="6807200"/>
            <a:ext cx="5699760" cy="3111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2000" dirty="0">
                <a:solidFill>
                  <a:srgbClr val="443728"/>
                </a:solidFill>
                <a:latin typeface="Calibri" panose="020F0502020204030204" charset="0"/>
                <a:ea typeface="Open Sans" pitchFamily="34" charset="-122"/>
                <a:cs typeface="Calibri" panose="020F0502020204030204" charset="0"/>
              </a:rPr>
              <a:t>Context Injection into LLM prompt</a:t>
            </a:r>
            <a:endParaRPr lang="en-US" sz="2000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7957185" y="7185660"/>
            <a:ext cx="5694045" cy="3111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2000" dirty="0">
                <a:solidFill>
                  <a:srgbClr val="443728"/>
                </a:solidFill>
                <a:latin typeface="Calibri" panose="020F0502020204030204" charset="0"/>
                <a:ea typeface="Open Sans" pitchFamily="34" charset="-122"/>
                <a:cs typeface="Calibri" panose="020F0502020204030204" charset="0"/>
              </a:rPr>
              <a:t>Final Answer Generation</a:t>
            </a:r>
            <a:endParaRPr lang="en-US" sz="2000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30" name="Text Box 29"/>
          <p:cNvSpPr txBox="1"/>
          <p:nvPr/>
        </p:nvSpPr>
        <p:spPr>
          <a:xfrm rot="21420000">
            <a:off x="12854305" y="7757795"/>
            <a:ext cx="1772285" cy="4572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noAutofit/>
          </a:bodyPr>
          <a:p>
            <a:r>
              <a:rPr lang="en-US" b="1">
                <a:latin typeface="Algerian" panose="04020705040A02060702" charset="0"/>
                <a:cs typeface="Algerian" panose="04020705040A02060702" charset="0"/>
              </a:rPr>
              <a:t> DEPI Project</a:t>
            </a:r>
            <a:endParaRPr lang="en-US" b="1">
              <a:latin typeface="Algerian" panose="04020705040A02060702" charset="0"/>
              <a:cs typeface="Algerian" panose="04020705040A02060702" charset="0"/>
            </a:endParaRPr>
          </a:p>
        </p:txBody>
      </p:sp>
      <p:sp>
        <p:nvSpPr>
          <p:cNvPr id="3" name="Freeform 5"/>
          <p:cNvSpPr/>
          <p:nvPr/>
        </p:nvSpPr>
        <p:spPr>
          <a:xfrm>
            <a:off x="0" y="6130290"/>
            <a:ext cx="1651635" cy="2088515"/>
          </a:xfrm>
          <a:custGeom>
            <a:avLst/>
            <a:gdLst/>
            <a:ahLst/>
            <a:cxnLst/>
            <a:rect l="l" t="t" r="r" b="b"/>
            <a:pathLst>
              <a:path w="3359173" h="4114800">
                <a:moveTo>
                  <a:pt x="0" y="0"/>
                </a:moveTo>
                <a:lnTo>
                  <a:pt x="3359173" y="0"/>
                </a:lnTo>
                <a:lnTo>
                  <a:pt x="335917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  <p:txBody>
          <a:bodyPr/>
          <a:p>
            <a:endParaRPr lang="en-GB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060" y="506095"/>
            <a:ext cx="6985000" cy="57340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4400" b="1" dirty="0">
                <a:solidFill>
                  <a:srgbClr val="443728"/>
                </a:solidFill>
                <a:latin typeface="Bahnschrift SemiLight" panose="020B0502040204020203" charset="0"/>
                <a:ea typeface="Crimson Pro Bold" pitchFamily="34" charset="-122"/>
                <a:cs typeface="Bahnschrift SemiLight" panose="020B0502040204020203" charset="0"/>
              </a:rPr>
              <a:t>Backend Implementation</a:t>
            </a:r>
            <a:endParaRPr lang="en-US" sz="4400" dirty="0">
              <a:latin typeface="Bahnschrift SemiLight" panose="020B0502040204020203" charset="0"/>
              <a:cs typeface="Bahnschrift SemiLight" panose="020B0502040204020203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34020" y="1354455"/>
            <a:ext cx="13162359" cy="58697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altLang="en-GB" sz="2400" dirty="0">
                <a:latin typeface="Calibri" panose="020F0502020204030204" charset="0"/>
                <a:cs typeface="Calibri" panose="020F0502020204030204" charset="0"/>
              </a:rPr>
              <a:t>The backend serves as the intelligent core of the</a:t>
            </a:r>
            <a:r>
              <a:rPr lang="en-US" altLang="en-GB" sz="2400" b="1" dirty="0">
                <a:latin typeface="Calibri" panose="020F0502020204030204" charset="0"/>
                <a:cs typeface="Calibri" panose="020F0502020204030204" charset="0"/>
              </a:rPr>
              <a:t> RAG chatbot</a:t>
            </a:r>
            <a:r>
              <a:rPr lang="en-US" altLang="en-GB" sz="2400" dirty="0">
                <a:latin typeface="Calibri" panose="020F0502020204030204" charset="0"/>
                <a:cs typeface="Calibri" panose="020F0502020204030204" charset="0"/>
              </a:rPr>
              <a:t>, managing user queries</a:t>
            </a:r>
            <a:endParaRPr lang="en-US" altLang="en-GB" sz="2400" dirty="0">
              <a:latin typeface="Calibri" panose="020F0502020204030204" charset="0"/>
              <a:cs typeface="Calibri" panose="020F0502020204030204" charset="0"/>
            </a:endParaRPr>
          </a:p>
          <a:p>
            <a:pPr marL="0" indent="0" algn="l">
              <a:lnSpc>
                <a:spcPts val="2300"/>
              </a:lnSpc>
              <a:buNone/>
            </a:pPr>
            <a:r>
              <a:rPr lang="en-US" altLang="en-GB" sz="2400" dirty="0">
                <a:latin typeface="Calibri" panose="020F0502020204030204" charset="0"/>
                <a:cs typeface="Calibri" panose="020F0502020204030204" charset="0"/>
              </a:rPr>
              <a:t> and orchestrating retrieval and generation processes efficiently.</a:t>
            </a:r>
            <a:endParaRPr lang="en-US" altLang="en-GB" sz="2400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34020" y="2216706"/>
            <a:ext cx="4269819" cy="45874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200" b="1" dirty="0">
                <a:solidFill>
                  <a:srgbClr val="443728"/>
                </a:solidFill>
                <a:latin typeface="Bahnschrift SemiBold" panose="020B0502040204020203" charset="0"/>
                <a:ea typeface="Crimson Pro Bold" pitchFamily="34" charset="-122"/>
                <a:cs typeface="Bahnschrift SemiBold" panose="020B0502040204020203" charset="0"/>
              </a:rPr>
              <a:t>Backend Features (FastAPI)</a:t>
            </a:r>
            <a:endParaRPr lang="en-US" sz="3200" dirty="0"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34020" y="3051691"/>
            <a:ext cx="91678" cy="91678"/>
          </a:xfrm>
          <a:prstGeom prst="roundRect">
            <a:avLst>
              <a:gd name="adj" fmla="val 498702"/>
            </a:avLst>
          </a:prstGeom>
          <a:solidFill>
            <a:srgbClr val="835E54"/>
          </a:solidFill>
        </p:spPr>
      </p:sp>
      <p:sp>
        <p:nvSpPr>
          <p:cNvPr id="6" name="Text 4"/>
          <p:cNvSpPr/>
          <p:nvPr/>
        </p:nvSpPr>
        <p:spPr>
          <a:xfrm>
            <a:off x="1009015" y="2950845"/>
            <a:ext cx="12887325" cy="51498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altLang="en-GB" sz="2000" b="1" dirty="0">
                <a:solidFill>
                  <a:srgbClr val="443728"/>
                </a:solidFill>
                <a:latin typeface="Calibri" panose="020F0502020204030204" charset="0"/>
                <a:ea typeface="Open Sans" pitchFamily="34" charset="-122"/>
                <a:cs typeface="Calibri" panose="020F0502020204030204" charset="0"/>
              </a:rPr>
              <a:t>FastAPI REST Endpoints</a:t>
            </a:r>
            <a:r>
              <a:rPr lang="en-US" sz="2000" b="1" dirty="0">
                <a:solidFill>
                  <a:srgbClr val="443728"/>
                </a:solidFill>
                <a:latin typeface="Calibri" panose="020F0502020204030204" charset="0"/>
                <a:ea typeface="Open Sans" pitchFamily="34" charset="-122"/>
                <a:cs typeface="Calibri" panose="020F0502020204030204" charset="0"/>
              </a:rPr>
              <a:t>:</a:t>
            </a:r>
            <a:r>
              <a:rPr lang="en-US" sz="2000" dirty="0">
                <a:solidFill>
                  <a:srgbClr val="443728"/>
                </a:solidFill>
                <a:latin typeface="Calibri" panose="020F0502020204030204" charset="0"/>
                <a:ea typeface="Open Sans" pitchFamily="34" charset="-122"/>
                <a:cs typeface="Calibri" panose="020F0502020204030204" charset="0"/>
              </a:rPr>
              <a:t> </a:t>
            </a:r>
            <a:r>
              <a:rPr lang="en-US" altLang="en-GB" sz="2000" dirty="0">
                <a:latin typeface="Calibri" panose="020F0502020204030204" charset="0"/>
                <a:cs typeface="Calibri" panose="020F0502020204030204" charset="0"/>
              </a:rPr>
              <a:t>Secure and efficient APIs for handling user questions and document uploads.</a:t>
            </a:r>
            <a:endParaRPr lang="en-US" altLang="en-GB" sz="2000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34020" y="3712131"/>
            <a:ext cx="91678" cy="91678"/>
          </a:xfrm>
          <a:prstGeom prst="roundRect">
            <a:avLst>
              <a:gd name="adj" fmla="val 498702"/>
            </a:avLst>
          </a:prstGeom>
          <a:solidFill>
            <a:srgbClr val="835E54"/>
          </a:solidFill>
        </p:spPr>
      </p:sp>
      <p:sp>
        <p:nvSpPr>
          <p:cNvPr id="8" name="Text 6"/>
          <p:cNvSpPr/>
          <p:nvPr/>
        </p:nvSpPr>
        <p:spPr>
          <a:xfrm>
            <a:off x="1009015" y="3611245"/>
            <a:ext cx="13621385" cy="5086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900" b="1" dirty="0">
                <a:solidFill>
                  <a:srgbClr val="443728"/>
                </a:solidFill>
                <a:latin typeface="Calibri" panose="020F0502020204030204" charset="0"/>
                <a:ea typeface="Open Sans" pitchFamily="34" charset="-122"/>
                <a:cs typeface="Calibri" panose="020F0502020204030204" charset="0"/>
              </a:rPr>
              <a:t>R</a:t>
            </a:r>
            <a:r>
              <a:rPr lang="en-US" altLang="en-GB" sz="1900" b="1" dirty="0">
                <a:solidFill>
                  <a:srgbClr val="443728"/>
                </a:solidFill>
                <a:latin typeface="Calibri" panose="020F0502020204030204" charset="0"/>
                <a:ea typeface="Open Sans" pitchFamily="34" charset="-122"/>
                <a:cs typeface="Calibri" panose="020F0502020204030204" charset="0"/>
              </a:rPr>
              <a:t>AG Pipeline Orchestration</a:t>
            </a:r>
            <a:r>
              <a:rPr lang="en-US" sz="1900" b="1" dirty="0">
                <a:solidFill>
                  <a:srgbClr val="443728"/>
                </a:solidFill>
                <a:latin typeface="Calibri" panose="020F0502020204030204" charset="0"/>
                <a:ea typeface="Open Sans" pitchFamily="34" charset="-122"/>
                <a:cs typeface="Calibri" panose="020F0502020204030204" charset="0"/>
              </a:rPr>
              <a:t>:</a:t>
            </a:r>
            <a:r>
              <a:rPr lang="en-US" sz="1900" dirty="0">
                <a:solidFill>
                  <a:srgbClr val="443728"/>
                </a:solidFill>
                <a:latin typeface="Calibri" panose="020F0502020204030204" charset="0"/>
                <a:ea typeface="Open Sans" pitchFamily="34" charset="-122"/>
                <a:cs typeface="Calibri" panose="020F0502020204030204" charset="0"/>
              </a:rPr>
              <a:t> </a:t>
            </a:r>
            <a:r>
              <a:rPr lang="en-US" altLang="en-GB" sz="1900" dirty="0">
                <a:latin typeface="Calibri" panose="020F0502020204030204" charset="0"/>
                <a:cs typeface="Calibri" panose="020F0502020204030204" charset="0"/>
              </a:rPr>
              <a:t>Combines user queries with retrieved constitutional context before passing them to the LLM.</a:t>
            </a:r>
            <a:endParaRPr lang="en-US" altLang="en-GB" sz="1900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34020" y="4372570"/>
            <a:ext cx="91678" cy="91678"/>
          </a:xfrm>
          <a:prstGeom prst="roundRect">
            <a:avLst>
              <a:gd name="adj" fmla="val 498702"/>
            </a:avLst>
          </a:prstGeom>
          <a:solidFill>
            <a:srgbClr val="835E54"/>
          </a:solidFill>
        </p:spPr>
      </p:sp>
      <p:sp>
        <p:nvSpPr>
          <p:cNvPr id="10" name="Text 8"/>
          <p:cNvSpPr/>
          <p:nvPr/>
        </p:nvSpPr>
        <p:spPr>
          <a:xfrm>
            <a:off x="1009174" y="4271605"/>
            <a:ext cx="12887206" cy="29348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altLang="en-GB" sz="2000" b="1" dirty="0">
                <a:solidFill>
                  <a:srgbClr val="443728"/>
                </a:solidFill>
                <a:latin typeface="Calibri" panose="020F0502020204030204" charset="0"/>
                <a:ea typeface="Open Sans" pitchFamily="34" charset="-122"/>
                <a:cs typeface="Calibri" panose="020F0502020204030204" charset="0"/>
              </a:rPr>
              <a:t>Vector Retrieval (Faiss DB)</a:t>
            </a:r>
            <a:r>
              <a:rPr lang="en-US" sz="2000" b="1" dirty="0">
                <a:solidFill>
                  <a:srgbClr val="443728"/>
                </a:solidFill>
                <a:latin typeface="Calibri" panose="020F0502020204030204" charset="0"/>
                <a:ea typeface="Open Sans" pitchFamily="34" charset="-122"/>
                <a:cs typeface="Calibri" panose="020F0502020204030204" charset="0"/>
              </a:rPr>
              <a:t>:</a:t>
            </a:r>
            <a:r>
              <a:rPr lang="en-US" sz="2000" dirty="0">
                <a:solidFill>
                  <a:srgbClr val="443728"/>
                </a:solidFill>
                <a:latin typeface="Calibri" panose="020F0502020204030204" charset="0"/>
                <a:ea typeface="Open Sans" pitchFamily="34" charset="-122"/>
                <a:cs typeface="Calibri" panose="020F0502020204030204" charset="0"/>
              </a:rPr>
              <a:t> </a:t>
            </a:r>
            <a:r>
              <a:rPr lang="en-US" altLang="en-GB" sz="2000" dirty="0">
                <a:latin typeface="Calibri" panose="020F0502020204030204" charset="0"/>
                <a:cs typeface="Calibri" panose="020F0502020204030204" charset="0"/>
              </a:rPr>
              <a:t>Performs fast similarity search over embedded constitutional articles.</a:t>
            </a:r>
            <a:endParaRPr lang="en-US" altLang="en-GB" sz="2000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34020" y="5033010"/>
            <a:ext cx="91678" cy="91678"/>
          </a:xfrm>
          <a:prstGeom prst="roundRect">
            <a:avLst>
              <a:gd name="adj" fmla="val 498702"/>
            </a:avLst>
          </a:prstGeom>
          <a:solidFill>
            <a:srgbClr val="835E54"/>
          </a:solidFill>
        </p:spPr>
      </p:sp>
      <p:sp>
        <p:nvSpPr>
          <p:cNvPr id="12" name="Text 10"/>
          <p:cNvSpPr/>
          <p:nvPr/>
        </p:nvSpPr>
        <p:spPr>
          <a:xfrm>
            <a:off x="1009174" y="4932045"/>
            <a:ext cx="12887206" cy="29348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altLang="en-GB" sz="2000" b="1" dirty="0">
                <a:solidFill>
                  <a:srgbClr val="443728"/>
                </a:solidFill>
                <a:ea typeface="Open Sans" pitchFamily="34" charset="-122"/>
                <a:cs typeface="+mn-lt"/>
              </a:rPr>
              <a:t>LLM Integration (Groq)</a:t>
            </a:r>
            <a:r>
              <a:rPr lang="en-US" sz="2000" b="1" dirty="0">
                <a:solidFill>
                  <a:srgbClr val="443728"/>
                </a:solidFill>
                <a:ea typeface="Open Sans" pitchFamily="34" charset="-122"/>
                <a:cs typeface="+mn-lt"/>
              </a:rPr>
              <a:t>:</a:t>
            </a:r>
            <a:r>
              <a:rPr lang="en-US" sz="2000" dirty="0">
                <a:solidFill>
                  <a:srgbClr val="443728"/>
                </a:solidFill>
                <a:ea typeface="Open Sans" pitchFamily="34" charset="-122"/>
                <a:cs typeface="+mn-lt"/>
              </a:rPr>
              <a:t> </a:t>
            </a:r>
            <a:r>
              <a:rPr lang="en-US" altLang="en-GB" sz="2000" dirty="0">
                <a:solidFill>
                  <a:srgbClr val="443728"/>
                </a:solidFill>
                <a:ea typeface="Open Sans" pitchFamily="34" charset="-122"/>
                <a:cs typeface="+mn-lt"/>
              </a:rPr>
              <a:t>Generates accurate, context-aware answers grounded in constitutional text</a:t>
            </a:r>
            <a:r>
              <a:rPr lang="en-US" sz="2000" dirty="0">
                <a:solidFill>
                  <a:srgbClr val="443728"/>
                </a:solidFill>
                <a:ea typeface="Open Sans" pitchFamily="34" charset="-122"/>
                <a:cs typeface="+mn-lt"/>
              </a:rPr>
              <a:t>.</a:t>
            </a:r>
            <a:endParaRPr lang="en-US" sz="2000" dirty="0">
              <a:cs typeface="+mn-lt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734020" y="5693450"/>
            <a:ext cx="91678" cy="91678"/>
          </a:xfrm>
          <a:prstGeom prst="roundRect">
            <a:avLst>
              <a:gd name="adj" fmla="val 498702"/>
            </a:avLst>
          </a:prstGeom>
          <a:solidFill>
            <a:srgbClr val="835E54"/>
          </a:solidFill>
        </p:spPr>
      </p:sp>
      <p:sp>
        <p:nvSpPr>
          <p:cNvPr id="14" name="Text 12"/>
          <p:cNvSpPr/>
          <p:nvPr/>
        </p:nvSpPr>
        <p:spPr>
          <a:xfrm>
            <a:off x="1009174" y="5592485"/>
            <a:ext cx="12887206" cy="29348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altLang="en-GB" sz="2000" b="1" dirty="0">
                <a:solidFill>
                  <a:srgbClr val="443728"/>
                </a:solidFill>
                <a:latin typeface="Calibri" panose="020F0502020204030204" charset="0"/>
                <a:ea typeface="Open Sans" pitchFamily="34" charset="-122"/>
                <a:cs typeface="Calibri" panose="020F0502020204030204" charset="0"/>
              </a:rPr>
              <a:t>TOON Data Format Support</a:t>
            </a:r>
            <a:r>
              <a:rPr lang="en-US" sz="2000" b="1" dirty="0">
                <a:solidFill>
                  <a:srgbClr val="443728"/>
                </a:solidFill>
                <a:latin typeface="Calibri" panose="020F0502020204030204" charset="0"/>
                <a:ea typeface="Open Sans" pitchFamily="34" charset="-122"/>
                <a:cs typeface="Calibri" panose="020F0502020204030204" charset="0"/>
              </a:rPr>
              <a:t>:</a:t>
            </a:r>
            <a:r>
              <a:rPr lang="en-US" sz="2000" dirty="0">
                <a:solidFill>
                  <a:srgbClr val="443728"/>
                </a:solidFill>
                <a:latin typeface="Calibri" panose="020F0502020204030204" charset="0"/>
                <a:ea typeface="Open Sans" pitchFamily="34" charset="-122"/>
                <a:cs typeface="Calibri" panose="020F0502020204030204" charset="0"/>
              </a:rPr>
              <a:t> </a:t>
            </a:r>
            <a:r>
              <a:rPr lang="en-US" altLang="en-GB" sz="2000" dirty="0">
                <a:latin typeface="Calibri" panose="020F0502020204030204" charset="0"/>
                <a:cs typeface="Calibri" panose="020F0502020204030204" charset="0"/>
              </a:rPr>
              <a:t>Uses Token-Oriented Object Notation (29% lighter than JSON) for faster communication.</a:t>
            </a:r>
            <a:endParaRPr lang="en-US" altLang="en-GB" sz="2000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34020" y="6353889"/>
            <a:ext cx="91678" cy="91678"/>
          </a:xfrm>
          <a:prstGeom prst="roundRect">
            <a:avLst>
              <a:gd name="adj" fmla="val 498702"/>
            </a:avLst>
          </a:prstGeom>
          <a:solidFill>
            <a:srgbClr val="835E54"/>
          </a:solidFill>
        </p:spPr>
      </p:sp>
      <p:sp>
        <p:nvSpPr>
          <p:cNvPr id="16" name="Text 14"/>
          <p:cNvSpPr/>
          <p:nvPr/>
        </p:nvSpPr>
        <p:spPr>
          <a:xfrm>
            <a:off x="1009174" y="6252924"/>
            <a:ext cx="12887206" cy="29348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altLang="en-GB" sz="2000" b="1" dirty="0">
                <a:solidFill>
                  <a:srgbClr val="443728"/>
                </a:solidFill>
                <a:latin typeface="Calibri" panose="020F0502020204030204" charset="0"/>
                <a:ea typeface="Open Sans" pitchFamily="34" charset="-122"/>
                <a:cs typeface="Calibri" panose="020F0502020204030204" charset="0"/>
              </a:rPr>
              <a:t>Scalable &amp; Lightweight Architecture</a:t>
            </a:r>
            <a:r>
              <a:rPr lang="en-US" sz="2000" b="1" dirty="0">
                <a:solidFill>
                  <a:srgbClr val="443728"/>
                </a:solidFill>
                <a:latin typeface="Calibri" panose="020F0502020204030204" charset="0"/>
                <a:ea typeface="Open Sans" pitchFamily="34" charset="-122"/>
                <a:cs typeface="Calibri" panose="020F0502020204030204" charset="0"/>
              </a:rPr>
              <a:t>:</a:t>
            </a:r>
            <a:r>
              <a:rPr lang="en-US" sz="2000" dirty="0">
                <a:solidFill>
                  <a:srgbClr val="443728"/>
                </a:solidFill>
                <a:latin typeface="Calibri" panose="020F0502020204030204" charset="0"/>
                <a:ea typeface="Open Sans" pitchFamily="34" charset="-122"/>
                <a:cs typeface="Calibri" panose="020F0502020204030204" charset="0"/>
              </a:rPr>
              <a:t> </a:t>
            </a:r>
            <a:r>
              <a:rPr lang="en-US" altLang="en-GB" sz="2000" dirty="0">
                <a:latin typeface="Calibri" panose="020F0502020204030204" charset="0"/>
                <a:cs typeface="Calibri" panose="020F0502020204030204" charset="0"/>
              </a:rPr>
              <a:t>Designed for low latency and high request throughput.</a:t>
            </a:r>
            <a:endParaRPr lang="en-US" altLang="en-GB" sz="2000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34020" y="7150298"/>
            <a:ext cx="4587954" cy="57340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endParaRPr lang="en-US" sz="3600" dirty="0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1">
            <a:alphaModFix amt="11000"/>
          </a:blip>
          <a:stretch>
            <a:fillRect/>
          </a:stretch>
        </p:blipFill>
        <p:spPr>
          <a:xfrm>
            <a:off x="11706225" y="974090"/>
            <a:ext cx="2485390" cy="2485390"/>
          </a:xfrm>
          <a:prstGeom prst="rect">
            <a:avLst/>
          </a:prstGeom>
        </p:spPr>
      </p:pic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757160"/>
            <a:ext cx="14630400" cy="230707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6170" y="905351"/>
            <a:ext cx="4986099" cy="62007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4400" b="1" dirty="0">
                <a:solidFill>
                  <a:srgbClr val="443728"/>
                </a:solidFill>
                <a:latin typeface="Bahnschrift SemiLight" panose="020B0502040204020203" charset="0"/>
                <a:ea typeface="Crimson Pro Bold" pitchFamily="34" charset="-122"/>
                <a:cs typeface="Bahnschrift SemiLight" panose="020B0502040204020203" charset="0"/>
              </a:rPr>
              <a:t>Frontend Web Interface</a:t>
            </a:r>
            <a:endParaRPr lang="en-US" sz="4400" dirty="0">
              <a:latin typeface="Bahnschrift SemiLight" panose="020B0502040204020203" charset="0"/>
              <a:cs typeface="Bahnschrift SemiLight" panose="020B0502040204020203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86130" y="1945640"/>
            <a:ext cx="13042900" cy="7264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altLang="en-GB" sz="2400" dirty="0"/>
              <a:t>Built A responsive web interface built with HTML5 for structure, CSS3 &amp; Bootstrap 5 for</a:t>
            </a:r>
            <a:endParaRPr lang="en-US" altLang="en-GB" sz="24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altLang="en-GB" sz="2400" dirty="0"/>
              <a:t>a modern responsive design, and JavaScript for dynamic interaction and API integration, </a:t>
            </a:r>
            <a:endParaRPr lang="en-US" altLang="en-GB" sz="24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altLang="en-GB" sz="2400" dirty="0"/>
              <a:t>with TOON support for efficient client-side data parsing.</a:t>
            </a:r>
            <a:endParaRPr lang="en-US" altLang="en-GB" sz="2400" dirty="0"/>
          </a:p>
        </p:txBody>
      </p:sp>
      <p:sp>
        <p:nvSpPr>
          <p:cNvPr id="4" name="Text 2"/>
          <p:cNvSpPr/>
          <p:nvPr/>
        </p:nvSpPr>
        <p:spPr>
          <a:xfrm>
            <a:off x="793790" y="3175635"/>
            <a:ext cx="3969425" cy="49613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200" b="1" dirty="0">
                <a:solidFill>
                  <a:srgbClr val="443728"/>
                </a:solidFill>
                <a:latin typeface="Bahnschrift SemiBold" panose="020B0502040204020203" charset="0"/>
                <a:ea typeface="Crimson Pro Bold" pitchFamily="34" charset="-122"/>
                <a:cs typeface="Bahnschrift SemiBold" panose="020B0502040204020203" charset="0"/>
              </a:rPr>
              <a:t>User Experience</a:t>
            </a:r>
            <a:endParaRPr lang="en-US" sz="3200" dirty="0"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93790" y="3969425"/>
            <a:ext cx="13042821" cy="1476256"/>
          </a:xfrm>
          <a:prstGeom prst="roundRect">
            <a:avLst>
              <a:gd name="adj" fmla="val 5647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1410" y="3977045"/>
            <a:ext cx="6513790" cy="1461016"/>
          </a:xfrm>
          <a:prstGeom prst="roundRect">
            <a:avLst>
              <a:gd name="adj" fmla="val 5706"/>
            </a:avLst>
          </a:prstGeom>
          <a:solidFill>
            <a:srgbClr val="EBE2E0"/>
          </a:solidFill>
        </p:spPr>
      </p:sp>
      <p:sp>
        <p:nvSpPr>
          <p:cNvPr id="7" name="Text 5"/>
          <p:cNvSpPr/>
          <p:nvPr/>
        </p:nvSpPr>
        <p:spPr>
          <a:xfrm>
            <a:off x="999768" y="4175403"/>
            <a:ext cx="2564606" cy="31015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800" b="1" dirty="0">
                <a:solidFill>
                  <a:srgbClr val="443728"/>
                </a:solidFill>
                <a:latin typeface="Bahnschrift Light" panose="020B0502040204020203" charset="0"/>
                <a:ea typeface="Crimson Pro Bold" pitchFamily="34" charset="-122"/>
                <a:cs typeface="Bahnschrift Light" panose="020B0502040204020203" charset="0"/>
              </a:rPr>
              <a:t>Clean &amp; Minimal Design</a:t>
            </a:r>
            <a:endParaRPr lang="en-US" sz="2800" dirty="0">
              <a:latin typeface="Bahnschrift Light" panose="020B0502040204020203" charset="0"/>
              <a:cs typeface="Bahnschrift Light" panose="020B0502040204020203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999768" y="4604623"/>
            <a:ext cx="6117074" cy="63507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443728"/>
                </a:solidFill>
                <a:latin typeface="Calibri" panose="020F0502020204030204" charset="0"/>
                <a:ea typeface="Open Sans" pitchFamily="34" charset="-122"/>
                <a:cs typeface="Calibri" panose="020F0502020204030204" charset="0"/>
              </a:rPr>
              <a:t>A straightforward chatbot-style interface focused on clarity and ease of use, reducing cognitive load.</a:t>
            </a:r>
            <a:endParaRPr lang="en-US" sz="2000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315200" y="3977045"/>
            <a:ext cx="6513790" cy="1461016"/>
          </a:xfrm>
          <a:prstGeom prst="rect">
            <a:avLst/>
          </a:prstGeom>
          <a:solidFill>
            <a:srgbClr val="EBE2E0"/>
          </a:solidFill>
        </p:spPr>
      </p:sp>
      <p:sp>
        <p:nvSpPr>
          <p:cNvPr id="10" name="Shape 8"/>
          <p:cNvSpPr/>
          <p:nvPr/>
        </p:nvSpPr>
        <p:spPr>
          <a:xfrm>
            <a:off x="7315200" y="3977045"/>
            <a:ext cx="22860" cy="1461016"/>
          </a:xfrm>
          <a:prstGeom prst="roundRect">
            <a:avLst>
              <a:gd name="adj" fmla="val 364651"/>
            </a:avLst>
          </a:prstGeom>
          <a:solidFill>
            <a:srgbClr val="D1C8C6"/>
          </a:solidFill>
        </p:spPr>
      </p:sp>
      <p:sp>
        <p:nvSpPr>
          <p:cNvPr id="11" name="Text 9"/>
          <p:cNvSpPr/>
          <p:nvPr/>
        </p:nvSpPr>
        <p:spPr>
          <a:xfrm>
            <a:off x="7513558" y="4175403"/>
            <a:ext cx="2480905" cy="31015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800" b="1" dirty="0">
                <a:solidFill>
                  <a:srgbClr val="443728"/>
                </a:solidFill>
                <a:latin typeface="Bahnschrift Light" panose="020B0502040204020203" charset="0"/>
                <a:ea typeface="Crimson Pro Bold" pitchFamily="34" charset="-122"/>
                <a:cs typeface="Bahnschrift Light" panose="020B0502040204020203" charset="0"/>
              </a:rPr>
              <a:t>Intuitive Display</a:t>
            </a:r>
            <a:endParaRPr lang="en-US" sz="2800" dirty="0">
              <a:latin typeface="Bahnschrift Light" panose="020B0502040204020203" charset="0"/>
              <a:cs typeface="Bahnschrift Light" panose="020B0502040204020203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513558" y="4604623"/>
            <a:ext cx="6117074" cy="3175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443728"/>
                </a:solidFill>
                <a:latin typeface="Calibri" panose="020F0502020204030204" charset="0"/>
                <a:ea typeface="Open Sans" pitchFamily="34" charset="-122"/>
                <a:cs typeface="Calibri" panose="020F0502020204030204" charset="0"/>
              </a:rPr>
              <a:t>Clearly presents all key information within the chat window.</a:t>
            </a:r>
            <a:endParaRPr lang="en-US" sz="2000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3" name="Shape 11"/>
          <p:cNvSpPr/>
          <p:nvPr>
            <p:custDataLst>
              <p:tags r:id="rId1"/>
            </p:custDataLst>
          </p:nvPr>
        </p:nvSpPr>
        <p:spPr>
          <a:xfrm>
            <a:off x="793790" y="5790843"/>
            <a:ext cx="446484" cy="446484"/>
          </a:xfrm>
          <a:prstGeom prst="roundRect">
            <a:avLst>
              <a:gd name="adj" fmla="val 18670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14" name="Text 12"/>
          <p:cNvSpPr/>
          <p:nvPr>
            <p:custDataLst>
              <p:tags r:id="rId2"/>
            </p:custDataLst>
          </p:nvPr>
        </p:nvSpPr>
        <p:spPr>
          <a:xfrm>
            <a:off x="892969" y="5864880"/>
            <a:ext cx="297656" cy="3720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1</a:t>
            </a:r>
            <a:endParaRPr lang="en-US" sz="2300" dirty="0"/>
          </a:p>
        </p:txBody>
      </p:sp>
      <p:sp>
        <p:nvSpPr>
          <p:cNvPr id="15" name="Text 13"/>
          <p:cNvSpPr/>
          <p:nvPr>
            <p:custDataLst>
              <p:tags r:id="rId3"/>
            </p:custDataLst>
          </p:nvPr>
        </p:nvSpPr>
        <p:spPr>
          <a:xfrm>
            <a:off x="1438632" y="5733336"/>
            <a:ext cx="3537347" cy="63507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443728"/>
                </a:solidFill>
                <a:latin typeface="Arial" panose="020B0604020202020204" pitchFamily="34" charset="0"/>
                <a:ea typeface="Open Sans" pitchFamily="34" charset="-122"/>
                <a:cs typeface="Arial" panose="020B0604020202020204" pitchFamily="34" charset="0"/>
              </a:rPr>
              <a:t>User Questions:</a:t>
            </a:r>
            <a:r>
              <a:rPr lang="en-US" sz="2000" dirty="0">
                <a:solidFill>
                  <a:srgbClr val="443728"/>
                </a:solidFill>
                <a:latin typeface="Arial" panose="020B0604020202020204" pitchFamily="34" charset="0"/>
                <a:ea typeface="Open Sans" pitchFamily="34" charset="-122"/>
                <a:cs typeface="Arial" panose="020B0604020202020204" pitchFamily="34" charset="0"/>
              </a:rPr>
              <a:t> Prominently displayed for context.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hape 14"/>
          <p:cNvSpPr/>
          <p:nvPr>
            <p:custDataLst>
              <p:tags r:id="rId4"/>
            </p:custDataLst>
          </p:nvPr>
        </p:nvSpPr>
        <p:spPr>
          <a:xfrm>
            <a:off x="5223986" y="5791478"/>
            <a:ext cx="446484" cy="446484"/>
          </a:xfrm>
          <a:prstGeom prst="roundRect">
            <a:avLst>
              <a:gd name="adj" fmla="val 18670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17" name="Text 15"/>
          <p:cNvSpPr/>
          <p:nvPr>
            <p:custDataLst>
              <p:tags r:id="rId5"/>
            </p:custDataLst>
          </p:nvPr>
        </p:nvSpPr>
        <p:spPr>
          <a:xfrm>
            <a:off x="5310465" y="5865515"/>
            <a:ext cx="297656" cy="3720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2</a:t>
            </a:r>
            <a:endParaRPr lang="en-US" sz="2300" dirty="0"/>
          </a:p>
        </p:txBody>
      </p:sp>
      <p:sp>
        <p:nvSpPr>
          <p:cNvPr id="18" name="Text 16"/>
          <p:cNvSpPr/>
          <p:nvPr>
            <p:custDataLst>
              <p:tags r:id="rId6"/>
            </p:custDataLst>
          </p:nvPr>
        </p:nvSpPr>
        <p:spPr>
          <a:xfrm>
            <a:off x="5868829" y="5733336"/>
            <a:ext cx="3537466" cy="63507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443728"/>
                </a:solidFill>
                <a:latin typeface="Arial" panose="020B0604020202020204" pitchFamily="34" charset="0"/>
                <a:ea typeface="Open Sans" pitchFamily="34" charset="-122"/>
                <a:cs typeface="Arial" panose="020B0604020202020204" pitchFamily="34" charset="0"/>
              </a:rPr>
              <a:t>AI Answers:</a:t>
            </a:r>
            <a:r>
              <a:rPr lang="en-US" sz="2000" dirty="0">
                <a:solidFill>
                  <a:srgbClr val="443728"/>
                </a:solidFill>
                <a:latin typeface="Arial" panose="020B0604020202020204" pitchFamily="34" charset="0"/>
                <a:ea typeface="Open Sans" pitchFamily="34" charset="-122"/>
                <a:cs typeface="Arial" panose="020B0604020202020204" pitchFamily="34" charset="0"/>
              </a:rPr>
              <a:t> Generated responses presented clearly.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Shape 17"/>
          <p:cNvSpPr/>
          <p:nvPr>
            <p:custDataLst>
              <p:tags r:id="rId7"/>
            </p:custDataLst>
          </p:nvPr>
        </p:nvSpPr>
        <p:spPr>
          <a:xfrm>
            <a:off x="9666367" y="5792113"/>
            <a:ext cx="446484" cy="446484"/>
          </a:xfrm>
          <a:prstGeom prst="roundRect">
            <a:avLst>
              <a:gd name="adj" fmla="val 18670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20" name="Text 18"/>
          <p:cNvSpPr/>
          <p:nvPr>
            <p:custDataLst>
              <p:tags r:id="rId8"/>
            </p:custDataLst>
          </p:nvPr>
        </p:nvSpPr>
        <p:spPr>
          <a:xfrm>
            <a:off x="9728081" y="5866150"/>
            <a:ext cx="297656" cy="3720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3</a:t>
            </a:r>
            <a:endParaRPr lang="en-US" sz="2300" dirty="0"/>
          </a:p>
        </p:txBody>
      </p:sp>
      <p:sp>
        <p:nvSpPr>
          <p:cNvPr id="21" name="Text 19"/>
          <p:cNvSpPr/>
          <p:nvPr>
            <p:custDataLst>
              <p:tags r:id="rId9"/>
            </p:custDataLst>
          </p:nvPr>
        </p:nvSpPr>
        <p:spPr>
          <a:xfrm>
            <a:off x="10299065" y="5733415"/>
            <a:ext cx="3942080" cy="13925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443728"/>
                </a:solidFill>
                <a:latin typeface="Arial" panose="020B0604020202020204" pitchFamily="34" charset="0"/>
                <a:ea typeface="Open Sans" pitchFamily="34" charset="-122"/>
                <a:cs typeface="Arial" panose="020B0604020202020204" pitchFamily="34" charset="0"/>
              </a:rPr>
              <a:t>Relevant Constitutional Article(s):</a:t>
            </a:r>
            <a:r>
              <a:rPr lang="en-US" sz="2000" dirty="0">
                <a:solidFill>
                  <a:srgbClr val="443728"/>
                </a:solidFill>
                <a:latin typeface="Arial" panose="020B0604020202020204" pitchFamily="34" charset="0"/>
                <a:ea typeface="Open Sans" pitchFamily="34" charset="-122"/>
                <a:cs typeface="Arial" panose="020B0604020202020204" pitchFamily="34" charset="0"/>
              </a:rPr>
              <a:t> Directly cited for transparency and trustworthiness.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 Box 29"/>
          <p:cNvSpPr txBox="1"/>
          <p:nvPr/>
        </p:nvSpPr>
        <p:spPr>
          <a:xfrm rot="21420000">
            <a:off x="12854305" y="7757795"/>
            <a:ext cx="1772285" cy="4572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noAutofit/>
          </a:bodyPr>
          <a:p>
            <a:r>
              <a:rPr lang="en-US" b="1">
                <a:latin typeface="Algerian" panose="04020705040A02060702" charset="0"/>
                <a:cs typeface="Algerian" panose="04020705040A02060702" charset="0"/>
              </a:rPr>
              <a:t> DEPI Project</a:t>
            </a:r>
            <a:endParaRPr lang="en-US" b="1">
              <a:latin typeface="Algerian" panose="04020705040A02060702" charset="0"/>
              <a:cs typeface="Algerian" panose="04020705040A02060702" charset="0"/>
            </a:endParaRPr>
          </a:p>
        </p:txBody>
      </p:sp>
      <p:sp>
        <p:nvSpPr>
          <p:cNvPr id="22" name="Freeform 6"/>
          <p:cNvSpPr/>
          <p:nvPr/>
        </p:nvSpPr>
        <p:spPr>
          <a:xfrm>
            <a:off x="12406630" y="502285"/>
            <a:ext cx="1633855" cy="2407920"/>
          </a:xfrm>
          <a:custGeom>
            <a:avLst/>
            <a:gdLst/>
            <a:ahLst/>
            <a:cxnLst/>
            <a:rect l="l" t="t" r="r" b="b"/>
            <a:pathLst>
              <a:path w="3014091" h="4114800">
                <a:moveTo>
                  <a:pt x="0" y="0"/>
                </a:moveTo>
                <a:lnTo>
                  <a:pt x="3014091" y="0"/>
                </a:lnTo>
                <a:lnTo>
                  <a:pt x="301409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  <a:effectLst>
            <a:softEdge rad="12700"/>
          </a:effectLst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2585" y="918051"/>
            <a:ext cx="4849535" cy="60614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750"/>
              </a:lnSpc>
              <a:buNone/>
            </a:pPr>
            <a:r>
              <a:rPr lang="en-US" sz="4400" b="1" dirty="0">
                <a:solidFill>
                  <a:srgbClr val="443728"/>
                </a:solidFill>
                <a:latin typeface="Bahnschrift SemiLight" panose="020B0502040204020203" charset="0"/>
                <a:ea typeface="Crimson Pro Bold" pitchFamily="34" charset="-122"/>
                <a:cs typeface="Bahnschrift SemiLight" panose="020B0502040204020203" charset="0"/>
              </a:rPr>
              <a:t>Demo / Use Cases</a:t>
            </a:r>
            <a:endParaRPr lang="en-US" sz="4400" dirty="0">
              <a:latin typeface="Bahnschrift SemiLight" panose="020B0502040204020203" charset="0"/>
              <a:cs typeface="Bahnschrift SemiLight" panose="020B0502040204020203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75930" y="2129076"/>
            <a:ext cx="3879652" cy="48494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3200" dirty="0">
                <a:solidFill>
                  <a:srgbClr val="443728"/>
                </a:solidFill>
                <a:latin typeface="Bahnschrift SemiBold" panose="020B0502040204020203" charset="0"/>
                <a:ea typeface="Crimson Pro Bold" pitchFamily="34" charset="-122"/>
                <a:cs typeface="Bahnschrift SemiBold" panose="020B0502040204020203" charset="0"/>
              </a:rPr>
              <a:t>Example Questions</a:t>
            </a:r>
            <a:endParaRPr lang="en-US" sz="3200" dirty="0"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75930" y="2904887"/>
            <a:ext cx="4230172" cy="1667470"/>
          </a:xfrm>
          <a:prstGeom prst="roundRect">
            <a:avLst>
              <a:gd name="adj" fmla="val 4886"/>
            </a:avLst>
          </a:prstGeom>
          <a:solidFill>
            <a:srgbClr val="FFFCFA"/>
          </a:solidFill>
          <a:ln w="22860">
            <a:solidFill>
              <a:srgbClr val="D1C8C6"/>
            </a:solidFill>
            <a:prstDash val="solid"/>
          </a:ln>
        </p:spPr>
        <p:txBody>
          <a:bodyPr/>
          <a:p>
            <a:endParaRPr lang="en-GB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2466" y="2811423"/>
            <a:ext cx="232767" cy="232767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6799" y="4433054"/>
            <a:ext cx="232767" cy="23276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89660" y="3218617"/>
            <a:ext cx="2424708" cy="30313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443728"/>
                </a:solidFill>
                <a:latin typeface="Arial" panose="020B0604020202020204" pitchFamily="34" charset="0"/>
                <a:ea typeface="Crimson Pro Bold" pitchFamily="34" charset="-122"/>
                <a:cs typeface="Arial" panose="020B0604020202020204" pitchFamily="34" charset="0"/>
              </a:rPr>
              <a:t>Women's Rights</a:t>
            </a:r>
            <a:endParaRPr lang="en-US" sz="1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1089660" y="3638074"/>
            <a:ext cx="3602712" cy="62055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ar-EG" altLang="en-US" dirty="0">
                <a:latin typeface="Calibri" panose="020F0502020204030204" charset="0"/>
                <a:cs typeface="Calibri" panose="020F0502020204030204" charset="0"/>
              </a:rPr>
              <a:t>“ما هي حقوق المرأة في الدستور المصري؟”</a:t>
            </a:r>
            <a:endParaRPr lang="ar-EG" altLang="en-US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0" name="Shape 6"/>
          <p:cNvSpPr/>
          <p:nvPr>
            <p:custDataLst>
              <p:tags r:id="rId3"/>
            </p:custDataLst>
          </p:nvPr>
        </p:nvSpPr>
        <p:spPr>
          <a:xfrm>
            <a:off x="5200055" y="2904887"/>
            <a:ext cx="4230172" cy="1667470"/>
          </a:xfrm>
          <a:prstGeom prst="roundRect">
            <a:avLst>
              <a:gd name="adj" fmla="val 4886"/>
            </a:avLst>
          </a:prstGeom>
          <a:solidFill>
            <a:srgbClr val="FFFCFA"/>
          </a:solidFill>
          <a:ln w="22860">
            <a:solidFill>
              <a:srgbClr val="D1C8C6"/>
            </a:solidFill>
            <a:prstDash val="solid"/>
          </a:ln>
        </p:spPr>
      </p:sp>
      <p:pic>
        <p:nvPicPr>
          <p:cNvPr id="11" name="Image 2" descr="preencoded.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"/>
          <a:stretch>
            <a:fillRect/>
          </a:stretch>
        </p:blipFill>
        <p:spPr>
          <a:xfrm>
            <a:off x="5106591" y="2811423"/>
            <a:ext cx="232767" cy="232767"/>
          </a:xfrm>
          <a:prstGeom prst="rect">
            <a:avLst/>
          </a:prstGeom>
        </p:spPr>
      </p:pic>
      <p:pic>
        <p:nvPicPr>
          <p:cNvPr id="12" name="Image 3" descr="preencoded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290923" y="4433054"/>
            <a:ext cx="232767" cy="232767"/>
          </a:xfrm>
          <a:prstGeom prst="rect">
            <a:avLst/>
          </a:prstGeom>
        </p:spPr>
      </p:pic>
      <p:sp>
        <p:nvSpPr>
          <p:cNvPr id="13" name="Text 7"/>
          <p:cNvSpPr/>
          <p:nvPr>
            <p:custDataLst>
              <p:tags r:id="rId6"/>
            </p:custDataLst>
          </p:nvPr>
        </p:nvSpPr>
        <p:spPr>
          <a:xfrm>
            <a:off x="5513784" y="3218617"/>
            <a:ext cx="2424708" cy="30313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443728"/>
                </a:solidFill>
                <a:latin typeface="Arial" panose="020B0604020202020204" pitchFamily="34" charset="0"/>
                <a:ea typeface="Crimson Pro Bold" pitchFamily="34" charset="-122"/>
                <a:cs typeface="Arial" panose="020B0604020202020204" pitchFamily="34" charset="0"/>
              </a:rPr>
              <a:t>Parliament Protection</a:t>
            </a:r>
            <a:endParaRPr lang="en-US" sz="1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8"/>
          <p:cNvSpPr/>
          <p:nvPr>
            <p:custDataLst>
              <p:tags r:id="rId7"/>
            </p:custDataLst>
          </p:nvPr>
        </p:nvSpPr>
        <p:spPr>
          <a:xfrm>
            <a:off x="5513784" y="3638074"/>
            <a:ext cx="3602712" cy="62055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ar-EG" altLang="ar-SA" dirty="0">
                <a:latin typeface="Calibri" panose="020F0502020204030204" charset="0"/>
                <a:cs typeface="Calibri" panose="020F0502020204030204" charset="0"/>
              </a:rPr>
              <a:t>“ما هو رقم المادة التي تنص علي أنه لا يجوز لرئيس الجمهورية حل مجلس النواب؟”</a:t>
            </a:r>
            <a:endParaRPr lang="ar-EG" altLang="ar-SA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5" name="Shape 9"/>
          <p:cNvSpPr/>
          <p:nvPr>
            <p:custDataLst>
              <p:tags r:id="rId8"/>
            </p:custDataLst>
          </p:nvPr>
        </p:nvSpPr>
        <p:spPr>
          <a:xfrm>
            <a:off x="9624179" y="2904887"/>
            <a:ext cx="4230291" cy="1667470"/>
          </a:xfrm>
          <a:prstGeom prst="roundRect">
            <a:avLst>
              <a:gd name="adj" fmla="val 4886"/>
            </a:avLst>
          </a:prstGeom>
          <a:solidFill>
            <a:srgbClr val="FFFCFA"/>
          </a:solidFill>
          <a:ln w="22860">
            <a:solidFill>
              <a:srgbClr val="D1C8C6"/>
            </a:solidFill>
            <a:prstDash val="solid"/>
          </a:ln>
        </p:spPr>
      </p:sp>
      <p:pic>
        <p:nvPicPr>
          <p:cNvPr id="16" name="Image 4" descr="preencoded.png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"/>
          <a:stretch>
            <a:fillRect/>
          </a:stretch>
        </p:blipFill>
        <p:spPr>
          <a:xfrm>
            <a:off x="9530715" y="2811423"/>
            <a:ext cx="232767" cy="232767"/>
          </a:xfrm>
          <a:prstGeom prst="rect">
            <a:avLst/>
          </a:prstGeom>
        </p:spPr>
      </p:pic>
      <p:pic>
        <p:nvPicPr>
          <p:cNvPr id="17" name="Image 5" descr="preencoded.png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3715167" y="4433054"/>
            <a:ext cx="232767" cy="232767"/>
          </a:xfrm>
          <a:prstGeom prst="rect">
            <a:avLst/>
          </a:prstGeom>
        </p:spPr>
      </p:pic>
      <p:sp>
        <p:nvSpPr>
          <p:cNvPr id="18" name="Text 10"/>
          <p:cNvSpPr/>
          <p:nvPr>
            <p:custDataLst>
              <p:tags r:id="rId11"/>
            </p:custDataLst>
          </p:nvPr>
        </p:nvSpPr>
        <p:spPr>
          <a:xfrm>
            <a:off x="9937750" y="3218815"/>
            <a:ext cx="2413000" cy="30289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altLang="en-GB" sz="1900" b="1" dirty="0">
                <a:solidFill>
                  <a:srgbClr val="443728"/>
                </a:solidFill>
                <a:latin typeface="Arial" panose="020B0604020202020204" pitchFamily="34" charset="0"/>
                <a:ea typeface="Crimson Pro Bold" pitchFamily="34" charset="-122"/>
                <a:cs typeface="Arial" panose="020B0604020202020204" pitchFamily="34" charset="0"/>
              </a:rPr>
              <a:t>Prime Minister Eligibility</a:t>
            </a:r>
            <a:endParaRPr lang="en-US" sz="1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1"/>
          <p:cNvSpPr/>
          <p:nvPr>
            <p:custDataLst>
              <p:tags r:id="rId12"/>
            </p:custDataLst>
          </p:nvPr>
        </p:nvSpPr>
        <p:spPr>
          <a:xfrm>
            <a:off x="9937909" y="3638074"/>
            <a:ext cx="3602831" cy="62055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ar-EG" dirty="0">
                <a:latin typeface="Calibri" panose="020F0502020204030204" charset="0"/>
                <a:cs typeface="Calibri" panose="020F0502020204030204" charset="0"/>
              </a:rPr>
              <a:t>“ما الشروط الواجب توافرها في المرشح لرئاسة مجلس الوزراء؟ “</a:t>
            </a:r>
            <a:endParaRPr lang="ar-EG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20" name="Text 12"/>
          <p:cNvSpPr/>
          <p:nvPr/>
        </p:nvSpPr>
        <p:spPr>
          <a:xfrm>
            <a:off x="775930" y="4863227"/>
            <a:ext cx="3879652" cy="48494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443728"/>
                </a:solidFill>
                <a:latin typeface="Bahnschrift SemiBold" panose="020B0502040204020203" charset="0"/>
                <a:ea typeface="Crimson Pro Bold" pitchFamily="34" charset="-122"/>
                <a:cs typeface="Bahnschrift SemiBold" panose="020B0502040204020203" charset="0"/>
              </a:rPr>
              <a:t>Expected Output</a:t>
            </a:r>
            <a:endParaRPr lang="en-US" sz="3200" dirty="0"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21" name="Shape 13"/>
          <p:cNvSpPr/>
          <p:nvPr/>
        </p:nvSpPr>
        <p:spPr>
          <a:xfrm>
            <a:off x="775930" y="5639038"/>
            <a:ext cx="4230172" cy="2056567"/>
          </a:xfrm>
          <a:prstGeom prst="roundRect">
            <a:avLst>
              <a:gd name="adj" fmla="val 22638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22" name="Text 14"/>
          <p:cNvSpPr/>
          <p:nvPr/>
        </p:nvSpPr>
        <p:spPr>
          <a:xfrm>
            <a:off x="977503" y="5840611"/>
            <a:ext cx="2795588" cy="30313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443728"/>
                </a:solidFill>
                <a:latin typeface="Arial" panose="020B0604020202020204" pitchFamily="34" charset="0"/>
                <a:ea typeface="Crimson Pro Bold" pitchFamily="34" charset="-122"/>
                <a:cs typeface="Arial" panose="020B0604020202020204" pitchFamily="34" charset="0"/>
              </a:rPr>
              <a:t>Retrieves Exact Article Text</a:t>
            </a:r>
            <a:endParaRPr lang="en-US" sz="1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 15"/>
          <p:cNvSpPr/>
          <p:nvPr/>
        </p:nvSpPr>
        <p:spPr>
          <a:xfrm>
            <a:off x="977503" y="6260068"/>
            <a:ext cx="3827026" cy="93083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dirty="0">
                <a:solidFill>
                  <a:srgbClr val="443728"/>
                </a:solidFill>
                <a:latin typeface="Calibri" panose="020F0502020204030204" charset="0"/>
                <a:ea typeface="Open Sans" pitchFamily="34" charset="-122"/>
                <a:cs typeface="Calibri" panose="020F0502020204030204" charset="0"/>
              </a:rPr>
              <a:t>The chatbot will pinpoint and present the precise constitutional articles relevant to the query.</a:t>
            </a:r>
            <a:endParaRPr lang="en-US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24" name="Shape 16"/>
          <p:cNvSpPr/>
          <p:nvPr>
            <p:custDataLst>
              <p:tags r:id="rId13"/>
            </p:custDataLst>
          </p:nvPr>
        </p:nvSpPr>
        <p:spPr>
          <a:xfrm>
            <a:off x="5200055" y="5639038"/>
            <a:ext cx="4230172" cy="2056567"/>
          </a:xfrm>
          <a:prstGeom prst="roundRect">
            <a:avLst>
              <a:gd name="adj" fmla="val 22638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25" name="Text 17"/>
          <p:cNvSpPr/>
          <p:nvPr>
            <p:custDataLst>
              <p:tags r:id="rId14"/>
            </p:custDataLst>
          </p:nvPr>
        </p:nvSpPr>
        <p:spPr>
          <a:xfrm>
            <a:off x="5401628" y="5840611"/>
            <a:ext cx="2924175" cy="30313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443728"/>
                </a:solidFill>
                <a:latin typeface="Arial" panose="020B0604020202020204" pitchFamily="34" charset="0"/>
                <a:ea typeface="Crimson Pro Bold" pitchFamily="34" charset="-122"/>
                <a:cs typeface="Arial" panose="020B0604020202020204" pitchFamily="34" charset="0"/>
              </a:rPr>
              <a:t>Generates Clear Explanation</a:t>
            </a:r>
            <a:endParaRPr lang="en-US" sz="1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 18"/>
          <p:cNvSpPr/>
          <p:nvPr>
            <p:custDataLst>
              <p:tags r:id="rId15"/>
            </p:custDataLst>
          </p:nvPr>
        </p:nvSpPr>
        <p:spPr>
          <a:xfrm>
            <a:off x="5401628" y="6260068"/>
            <a:ext cx="3827026" cy="93083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dirty="0">
                <a:solidFill>
                  <a:srgbClr val="443728"/>
                </a:solidFill>
                <a:latin typeface="Calibri" panose="020F0502020204030204" charset="0"/>
                <a:ea typeface="Open Sans" pitchFamily="34" charset="-122"/>
                <a:cs typeface="Calibri" panose="020F0502020204030204" charset="0"/>
              </a:rPr>
              <a:t>It will provide an easy-to-understand summary or explanation of the retrieved legal provisions.</a:t>
            </a:r>
            <a:endParaRPr lang="en-US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27" name="Shape 19"/>
          <p:cNvSpPr/>
          <p:nvPr>
            <p:custDataLst>
              <p:tags r:id="rId16"/>
            </p:custDataLst>
          </p:nvPr>
        </p:nvSpPr>
        <p:spPr>
          <a:xfrm>
            <a:off x="9624179" y="5639038"/>
            <a:ext cx="4230291" cy="2056567"/>
          </a:xfrm>
          <a:prstGeom prst="roundRect">
            <a:avLst>
              <a:gd name="adj" fmla="val 22638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28" name="Text 20"/>
          <p:cNvSpPr/>
          <p:nvPr>
            <p:custDataLst>
              <p:tags r:id="rId17"/>
            </p:custDataLst>
          </p:nvPr>
        </p:nvSpPr>
        <p:spPr>
          <a:xfrm>
            <a:off x="9825752" y="5840611"/>
            <a:ext cx="3827145" cy="60626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443728"/>
                </a:solidFill>
                <a:latin typeface="Arial" panose="020B0604020202020204" pitchFamily="34" charset="0"/>
                <a:ea typeface="Crimson Pro Bold" pitchFamily="34" charset="-122"/>
                <a:cs typeface="Arial" panose="020B0604020202020204" pitchFamily="34" charset="0"/>
              </a:rPr>
              <a:t>Provides Accurate, Legally Grounded Information</a:t>
            </a:r>
            <a:endParaRPr lang="en-US" sz="1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 21"/>
          <p:cNvSpPr/>
          <p:nvPr>
            <p:custDataLst>
              <p:tags r:id="rId18"/>
            </p:custDataLst>
          </p:nvPr>
        </p:nvSpPr>
        <p:spPr>
          <a:xfrm>
            <a:off x="9825752" y="6563201"/>
            <a:ext cx="3827145" cy="93083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dirty="0">
                <a:solidFill>
                  <a:srgbClr val="443728"/>
                </a:solidFill>
                <a:latin typeface="Calibri" panose="020F0502020204030204" charset="0"/>
                <a:ea typeface="Open Sans" pitchFamily="34" charset="-122"/>
                <a:cs typeface="Calibri" panose="020F0502020204030204" charset="0"/>
              </a:rPr>
              <a:t>All responses are verifiable and directly traceable to the official constitutional document, ensuring utmost reliability.</a:t>
            </a:r>
            <a:endParaRPr lang="en-US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30" name="Text Box 29"/>
          <p:cNvSpPr txBox="1"/>
          <p:nvPr/>
        </p:nvSpPr>
        <p:spPr>
          <a:xfrm rot="21420000">
            <a:off x="12854305" y="7757795"/>
            <a:ext cx="1772285" cy="4572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noAutofit/>
          </a:bodyPr>
          <a:p>
            <a:r>
              <a:rPr lang="en-US" b="1">
                <a:latin typeface="Algerian" panose="04020705040A02060702" charset="0"/>
                <a:cs typeface="Algerian" panose="04020705040A02060702" charset="0"/>
              </a:rPr>
              <a:t> DEPI Project</a:t>
            </a:r>
            <a:endParaRPr lang="en-US" b="1">
              <a:latin typeface="Algerian" panose="04020705040A02060702" charset="0"/>
              <a:cs typeface="Algerian" panose="04020705040A02060702" charset="0"/>
            </a:endParaRPr>
          </a:p>
        </p:txBody>
      </p:sp>
      <p:sp>
        <p:nvSpPr>
          <p:cNvPr id="3" name="Freeform 5"/>
          <p:cNvSpPr/>
          <p:nvPr/>
        </p:nvSpPr>
        <p:spPr>
          <a:xfrm>
            <a:off x="12903835" y="-34925"/>
            <a:ext cx="1696085" cy="2940050"/>
          </a:xfrm>
          <a:custGeom>
            <a:avLst/>
            <a:gdLst/>
            <a:ahLst/>
            <a:cxnLst/>
            <a:rect l="l" t="t" r="r" b="b"/>
            <a:pathLst>
              <a:path w="3359173" h="4114800">
                <a:moveTo>
                  <a:pt x="0" y="0"/>
                </a:moveTo>
                <a:lnTo>
                  <a:pt x="3359173" y="0"/>
                </a:lnTo>
                <a:lnTo>
                  <a:pt x="335917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  <p:txBody>
          <a:bodyPr/>
          <a:p>
            <a:endParaRPr lang="en-GB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" name="Text Box 29"/>
          <p:cNvSpPr txBox="1"/>
          <p:nvPr/>
        </p:nvSpPr>
        <p:spPr>
          <a:xfrm rot="21420000">
            <a:off x="12854305" y="7757795"/>
            <a:ext cx="1772285" cy="4572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noAutofit/>
          </a:bodyPr>
          <a:p>
            <a:r>
              <a:rPr lang="en-US" b="1">
                <a:latin typeface="Algerian" panose="04020705040A02060702" charset="0"/>
                <a:cs typeface="Algerian" panose="04020705040A02060702" charset="0"/>
              </a:rPr>
              <a:t> DEPI Project</a:t>
            </a:r>
            <a:endParaRPr lang="en-US" b="1">
              <a:latin typeface="Algerian" panose="04020705040A02060702" charset="0"/>
              <a:cs typeface="Algerian" panose="04020705040A02060702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853440" y="52070"/>
            <a:ext cx="839343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4400" b="1" dirty="0">
                <a:solidFill>
                  <a:srgbClr val="443728"/>
                </a:solidFill>
                <a:latin typeface="Bahnschrift SemiLight" panose="020B0502040204020203" charset="0"/>
                <a:ea typeface="Crimson Pro Bold" pitchFamily="34" charset="-122"/>
                <a:cs typeface="Bahnschrift SemiLight" panose="020B0502040204020203" charset="0"/>
                <a:sym typeface="+mn-ea"/>
              </a:rPr>
              <a:t>Chatbot Interface Preview</a:t>
            </a:r>
            <a:r>
              <a:rPr lang="ar-EG" altLang="en-US" sz="6000">
                <a:latin typeface="Bahnschrift SemiLight" panose="020B0502040204020203" charset="0"/>
                <a:cs typeface="Bahnschrift SemiLight" panose="020B0502040204020203" charset="0"/>
                <a:sym typeface="+mn-ea"/>
              </a:rPr>
              <a:t> </a:t>
            </a:r>
            <a:r>
              <a:rPr lang="en-US" altLang="en-US" sz="6000">
                <a:solidFill>
                  <a:schemeClr val="accent4">
                    <a:lumMod val="75000"/>
                  </a:schemeClr>
                </a:solidFill>
                <a:latin typeface="Bahnschrift SemiLight" panose="020B0502040204020203" charset="0"/>
                <a:cs typeface="Bahnschrift SemiLight" panose="020B0502040204020203" charset="0"/>
                <a:sym typeface="+mn-ea"/>
              </a:rPr>
              <a:t>⭐</a:t>
            </a:r>
            <a:endParaRPr lang="en-US" altLang="en-US" sz="6000">
              <a:solidFill>
                <a:schemeClr val="accent4">
                  <a:lumMod val="75000"/>
                </a:schemeClr>
              </a:solidFill>
              <a:latin typeface="Bahnschrift SemiLight" panose="020B0502040204020203" charset="0"/>
              <a:cs typeface="Bahnschrift SemiLight" panose="020B0502040204020203" charset="0"/>
              <a:sym typeface="+mn-ea"/>
            </a:endParaRPr>
          </a:p>
        </p:txBody>
      </p:sp>
      <p:pic>
        <p:nvPicPr>
          <p:cNvPr id="4" name="Picture 3" descr="WhatsApp Image 2025-12-15 at 19.55.43_633ec34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9930" y="1079500"/>
            <a:ext cx="13210540" cy="66319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1638" y="496133"/>
            <a:ext cx="4510683" cy="5638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4400" b="1" dirty="0">
                <a:solidFill>
                  <a:srgbClr val="443728"/>
                </a:solidFill>
                <a:latin typeface="Bahnschrift SemiLight" panose="020B0502040204020203" charset="0"/>
                <a:ea typeface="Crimson Pro Bold" pitchFamily="34" charset="-122"/>
                <a:cs typeface="Bahnschrift SemiLight" panose="020B0502040204020203" charset="0"/>
              </a:rPr>
              <a:t>Challenges &amp; Solutions</a:t>
            </a:r>
            <a:endParaRPr lang="en-US" sz="4400" dirty="0">
              <a:latin typeface="Bahnschrift SemiLight" panose="020B0502040204020203" charset="0"/>
              <a:cs typeface="Bahnschrift SemiLight" panose="020B0502040204020203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22273" y="1232178"/>
            <a:ext cx="13187124" cy="28860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000" dirty="0">
                <a:solidFill>
                  <a:srgbClr val="443728"/>
                </a:solidFill>
                <a:latin typeface="Arial" panose="020B0604020202020204" pitchFamily="34" charset="0"/>
                <a:ea typeface="Open Sans" pitchFamily="34" charset="-122"/>
                <a:cs typeface="Arial" panose="020B0604020202020204" pitchFamily="34" charset="0"/>
              </a:rPr>
              <a:t>Developing a RAG-based chatbot for legal texts presents unique challenges that require thoughtful solutions to</a:t>
            </a:r>
            <a:endParaRPr lang="en-US" sz="2000" dirty="0">
              <a:solidFill>
                <a:srgbClr val="443728"/>
              </a:solidFill>
              <a:latin typeface="Arial" panose="020B0604020202020204" pitchFamily="34" charset="0"/>
              <a:ea typeface="Open Sans" pitchFamily="34" charset="-122"/>
              <a:cs typeface="Arial" panose="020B0604020202020204" pitchFamily="34" charset="0"/>
            </a:endParaRPr>
          </a:p>
          <a:p>
            <a:pPr marL="0" indent="0" algn="l">
              <a:lnSpc>
                <a:spcPts val="2250"/>
              </a:lnSpc>
              <a:buNone/>
            </a:pPr>
            <a:r>
              <a:rPr lang="en-US" sz="2000" dirty="0">
                <a:solidFill>
                  <a:srgbClr val="443728"/>
                </a:solidFill>
                <a:latin typeface="Arial" panose="020B0604020202020204" pitchFamily="34" charset="0"/>
                <a:ea typeface="Open Sans" pitchFamily="34" charset="-122"/>
                <a:cs typeface="Arial" panose="020B0604020202020204" pitchFamily="34" charset="0"/>
              </a:rPr>
              <a:t>ensure accuracy and user satisfaction.</a:t>
            </a:r>
            <a:endParaRPr lang="en-US" sz="2000" dirty="0">
              <a:solidFill>
                <a:srgbClr val="443728"/>
              </a:solidFill>
              <a:latin typeface="Arial" panose="020B0604020202020204" pitchFamily="34" charset="0"/>
              <a:ea typeface="Open Sans" pitchFamily="34" charset="-122"/>
              <a:cs typeface="Arial" panose="020B0604020202020204" pitchFamily="34" charset="0"/>
            </a:endParaRPr>
          </a:p>
          <a:p>
            <a:pPr marL="0" indent="0" algn="l">
              <a:lnSpc>
                <a:spcPts val="2250"/>
              </a:lnSpc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lnSpc>
                <a:spcPts val="2250"/>
              </a:lnSpc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21638" y="2110184"/>
            <a:ext cx="3608546" cy="45100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3200" b="1" dirty="0">
                <a:solidFill>
                  <a:srgbClr val="443728"/>
                </a:solidFill>
                <a:latin typeface="Bahnschrift SemiBold" panose="020B0502040204020203" charset="0"/>
                <a:ea typeface="Crimson Pro Bold" pitchFamily="34" charset="-122"/>
                <a:cs typeface="Bahnschrift SemiBold" panose="020B0502040204020203" charset="0"/>
              </a:rPr>
              <a:t>Challenges</a:t>
            </a:r>
            <a:endParaRPr lang="en-US" sz="3200" dirty="0"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5" name="Shape 3"/>
          <p:cNvSpPr/>
          <p:nvPr>
            <p:custDataLst>
              <p:tags r:id="rId1"/>
            </p:custDataLst>
          </p:nvPr>
        </p:nvSpPr>
        <p:spPr>
          <a:xfrm>
            <a:off x="721638" y="2701647"/>
            <a:ext cx="6503313" cy="2064901"/>
          </a:xfrm>
          <a:prstGeom prst="roundRect">
            <a:avLst>
              <a:gd name="adj" fmla="val 3670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6" name="Shape 4"/>
          <p:cNvSpPr/>
          <p:nvPr>
            <p:custDataLst>
              <p:tags r:id="rId2"/>
            </p:custDataLst>
          </p:nvPr>
        </p:nvSpPr>
        <p:spPr>
          <a:xfrm>
            <a:off x="909638" y="2889647"/>
            <a:ext cx="541258" cy="541258"/>
          </a:xfrm>
          <a:prstGeom prst="roundRect">
            <a:avLst>
              <a:gd name="adj" fmla="val 16892287"/>
            </a:avLst>
          </a:prstGeom>
          <a:solidFill>
            <a:srgbClr val="835E54"/>
          </a:solidFill>
        </p:spPr>
      </p:sp>
      <p:pic>
        <p:nvPicPr>
          <p:cNvPr id="7" name="Image 0" descr="preencoded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58466" y="3038475"/>
            <a:ext cx="243483" cy="243483"/>
          </a:xfrm>
          <a:prstGeom prst="rect">
            <a:avLst/>
          </a:prstGeom>
        </p:spPr>
      </p:pic>
      <p:sp>
        <p:nvSpPr>
          <p:cNvPr id="8" name="Text 5"/>
          <p:cNvSpPr/>
          <p:nvPr>
            <p:custDataLst>
              <p:tags r:id="rId6"/>
            </p:custDataLst>
          </p:nvPr>
        </p:nvSpPr>
        <p:spPr>
          <a:xfrm>
            <a:off x="909638" y="3611285"/>
            <a:ext cx="2851666" cy="28182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443728"/>
                </a:solidFill>
                <a:latin typeface="Arial" panose="020B0604020202020204" pitchFamily="34" charset="0"/>
                <a:ea typeface="Crimson Pro Bold" pitchFamily="34" charset="-122"/>
                <a:cs typeface="Arial" panose="020B0604020202020204" pitchFamily="34" charset="0"/>
              </a:rPr>
              <a:t>Long and Dense Legal Articles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6"/>
          <p:cNvSpPr/>
          <p:nvPr>
            <p:custDataLst>
              <p:tags r:id="rId7"/>
            </p:custDataLst>
          </p:nvPr>
        </p:nvSpPr>
        <p:spPr>
          <a:xfrm>
            <a:off x="909638" y="4001333"/>
            <a:ext cx="6127313" cy="5772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dirty="0">
                <a:solidFill>
                  <a:srgbClr val="443728"/>
                </a:solidFill>
                <a:latin typeface="Calibri" panose="020F0502020204030204" charset="0"/>
                <a:ea typeface="Open Sans" pitchFamily="34" charset="-122"/>
                <a:cs typeface="Calibri" panose="020F0502020204030204" charset="0"/>
              </a:rPr>
              <a:t>The extensive and often archaic language of legal documents can be difficult for models to process and retrieve accurately.</a:t>
            </a:r>
            <a:endParaRPr lang="en-US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0" name="Shape 7"/>
          <p:cNvSpPr/>
          <p:nvPr>
            <p:custDataLst>
              <p:tags r:id="rId8"/>
            </p:custDataLst>
          </p:nvPr>
        </p:nvSpPr>
        <p:spPr>
          <a:xfrm>
            <a:off x="7405330" y="2701647"/>
            <a:ext cx="6503432" cy="2064901"/>
          </a:xfrm>
          <a:prstGeom prst="roundRect">
            <a:avLst>
              <a:gd name="adj" fmla="val 3670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11" name="Shape 8"/>
          <p:cNvSpPr/>
          <p:nvPr>
            <p:custDataLst>
              <p:tags r:id="rId9"/>
            </p:custDataLst>
          </p:nvPr>
        </p:nvSpPr>
        <p:spPr>
          <a:xfrm>
            <a:off x="7593330" y="2889647"/>
            <a:ext cx="541258" cy="541258"/>
          </a:xfrm>
          <a:prstGeom prst="roundRect">
            <a:avLst>
              <a:gd name="adj" fmla="val 16892287"/>
            </a:avLst>
          </a:prstGeom>
          <a:solidFill>
            <a:srgbClr val="835E54"/>
          </a:solidFill>
        </p:spPr>
      </p:sp>
      <p:pic>
        <p:nvPicPr>
          <p:cNvPr id="12" name="Image 1" descr="preencoded.png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742158" y="3038475"/>
            <a:ext cx="243483" cy="243483"/>
          </a:xfrm>
          <a:prstGeom prst="rect">
            <a:avLst/>
          </a:prstGeom>
        </p:spPr>
      </p:pic>
      <p:sp>
        <p:nvSpPr>
          <p:cNvPr id="13" name="Text 9"/>
          <p:cNvSpPr/>
          <p:nvPr>
            <p:custDataLst>
              <p:tags r:id="rId12"/>
            </p:custDataLst>
          </p:nvPr>
        </p:nvSpPr>
        <p:spPr>
          <a:xfrm>
            <a:off x="7593330" y="3611285"/>
            <a:ext cx="2255282" cy="28182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443728"/>
                </a:solidFill>
                <a:latin typeface="Arial" panose="020B0604020202020204" pitchFamily="34" charset="0"/>
                <a:ea typeface="Crimson Pro Bold" pitchFamily="34" charset="-122"/>
                <a:cs typeface="Arial" panose="020B0604020202020204" pitchFamily="34" charset="0"/>
              </a:rPr>
              <a:t>Overlapping Concepts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0"/>
          <p:cNvSpPr/>
          <p:nvPr>
            <p:custDataLst>
              <p:tags r:id="rId13"/>
            </p:custDataLst>
          </p:nvPr>
        </p:nvSpPr>
        <p:spPr>
          <a:xfrm>
            <a:off x="7593330" y="4001333"/>
            <a:ext cx="6127432" cy="5772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dirty="0">
                <a:solidFill>
                  <a:srgbClr val="443728"/>
                </a:solidFill>
                <a:latin typeface="Calibri" panose="020F0502020204030204" charset="0"/>
                <a:ea typeface="Open Sans" pitchFamily="34" charset="-122"/>
                <a:cs typeface="Calibri" panose="020F0502020204030204" charset="0"/>
              </a:rPr>
              <a:t>Similar ideas or legal principles spread across different articles can lead to ambiguity in retrieval.</a:t>
            </a:r>
            <a:endParaRPr lang="en-US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5" name="Shape 11"/>
          <p:cNvSpPr/>
          <p:nvPr>
            <p:custDataLst>
              <p:tags r:id="rId14"/>
            </p:custDataLst>
          </p:nvPr>
        </p:nvSpPr>
        <p:spPr>
          <a:xfrm>
            <a:off x="721638" y="4946928"/>
            <a:ext cx="6503313" cy="2064901"/>
          </a:xfrm>
          <a:prstGeom prst="roundRect">
            <a:avLst>
              <a:gd name="adj" fmla="val 3670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16" name="Shape 12"/>
          <p:cNvSpPr/>
          <p:nvPr>
            <p:custDataLst>
              <p:tags r:id="rId15"/>
            </p:custDataLst>
          </p:nvPr>
        </p:nvSpPr>
        <p:spPr>
          <a:xfrm>
            <a:off x="909638" y="5134928"/>
            <a:ext cx="541258" cy="541258"/>
          </a:xfrm>
          <a:prstGeom prst="roundRect">
            <a:avLst>
              <a:gd name="adj" fmla="val 16892287"/>
            </a:avLst>
          </a:prstGeom>
          <a:solidFill>
            <a:srgbClr val="835E54"/>
          </a:solidFill>
        </p:spPr>
      </p:sp>
      <p:pic>
        <p:nvPicPr>
          <p:cNvPr id="17" name="Image 2" descr="preencoded.png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058466" y="5283756"/>
            <a:ext cx="243483" cy="243483"/>
          </a:xfrm>
          <a:prstGeom prst="rect">
            <a:avLst/>
          </a:prstGeom>
        </p:spPr>
      </p:pic>
      <p:sp>
        <p:nvSpPr>
          <p:cNvPr id="18" name="Text 13"/>
          <p:cNvSpPr/>
          <p:nvPr>
            <p:custDataLst>
              <p:tags r:id="rId18"/>
            </p:custDataLst>
          </p:nvPr>
        </p:nvSpPr>
        <p:spPr>
          <a:xfrm>
            <a:off x="909638" y="5883235"/>
            <a:ext cx="3257788" cy="28182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443728"/>
                </a:solidFill>
                <a:latin typeface="Arial" panose="020B0604020202020204" pitchFamily="34" charset="0"/>
                <a:ea typeface="Crimson Pro Bold" pitchFamily="34" charset="-122"/>
                <a:cs typeface="Arial" panose="020B0604020202020204" pitchFamily="34" charset="0"/>
              </a:rPr>
              <a:t>Ensuring High-Precision Retrieval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4"/>
          <p:cNvSpPr/>
          <p:nvPr>
            <p:custDataLst>
              <p:tags r:id="rId19"/>
            </p:custDataLst>
          </p:nvPr>
        </p:nvSpPr>
        <p:spPr>
          <a:xfrm>
            <a:off x="909638" y="6246614"/>
            <a:ext cx="6127313" cy="5772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dirty="0">
                <a:solidFill>
                  <a:srgbClr val="443728"/>
                </a:solidFill>
                <a:latin typeface="Calibri" panose="020F0502020204030204" charset="0"/>
                <a:ea typeface="Open Sans" pitchFamily="34" charset="-122"/>
                <a:cs typeface="Calibri" panose="020F0502020204030204" charset="0"/>
              </a:rPr>
              <a:t>Guaranteeing that the chatbot retrieves only the most relevant and precise information, without extraneous data.</a:t>
            </a:r>
            <a:endParaRPr lang="en-US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20" name="Shape 15"/>
          <p:cNvSpPr/>
          <p:nvPr>
            <p:custDataLst>
              <p:tags r:id="rId20"/>
            </p:custDataLst>
          </p:nvPr>
        </p:nvSpPr>
        <p:spPr>
          <a:xfrm>
            <a:off x="7405330" y="4946928"/>
            <a:ext cx="6503432" cy="2064901"/>
          </a:xfrm>
          <a:prstGeom prst="roundRect">
            <a:avLst>
              <a:gd name="adj" fmla="val 3670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21" name="Shape 16"/>
          <p:cNvSpPr/>
          <p:nvPr>
            <p:custDataLst>
              <p:tags r:id="rId21"/>
            </p:custDataLst>
          </p:nvPr>
        </p:nvSpPr>
        <p:spPr>
          <a:xfrm>
            <a:off x="7593330" y="5134928"/>
            <a:ext cx="541258" cy="541258"/>
          </a:xfrm>
          <a:prstGeom prst="roundRect">
            <a:avLst>
              <a:gd name="adj" fmla="val 16892287"/>
            </a:avLst>
          </a:prstGeom>
          <a:solidFill>
            <a:srgbClr val="835E54"/>
          </a:solidFill>
        </p:spPr>
      </p:sp>
      <p:pic>
        <p:nvPicPr>
          <p:cNvPr id="22" name="Image 3" descr="preencoded.png"/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7742158" y="5283756"/>
            <a:ext cx="243483" cy="243483"/>
          </a:xfrm>
          <a:prstGeom prst="rect">
            <a:avLst/>
          </a:prstGeom>
        </p:spPr>
      </p:pic>
      <p:sp>
        <p:nvSpPr>
          <p:cNvPr id="23" name="Text 17"/>
          <p:cNvSpPr/>
          <p:nvPr>
            <p:custDataLst>
              <p:tags r:id="rId24"/>
            </p:custDataLst>
          </p:nvPr>
        </p:nvSpPr>
        <p:spPr>
          <a:xfrm>
            <a:off x="7593330" y="5856565"/>
            <a:ext cx="2840950" cy="28182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443728"/>
                </a:solidFill>
                <a:latin typeface="Arial" panose="020B0604020202020204" pitchFamily="34" charset="0"/>
                <a:ea typeface="Crimson Pro Bold" pitchFamily="34" charset="-122"/>
                <a:cs typeface="Arial" panose="020B0604020202020204" pitchFamily="34" charset="0"/>
              </a:rPr>
              <a:t>Avoiding Ambiguous Answers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 18"/>
          <p:cNvSpPr/>
          <p:nvPr>
            <p:custDataLst>
              <p:tags r:id="rId25"/>
            </p:custDataLst>
          </p:nvPr>
        </p:nvSpPr>
        <p:spPr>
          <a:xfrm>
            <a:off x="7593330" y="6246614"/>
            <a:ext cx="6127432" cy="5772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dirty="0">
                <a:solidFill>
                  <a:srgbClr val="443728"/>
                </a:solidFill>
                <a:latin typeface="Calibri" panose="020F0502020204030204" charset="0"/>
                <a:ea typeface="Open Sans" pitchFamily="34" charset="-122"/>
                <a:cs typeface="Calibri" panose="020F0502020204030204" charset="0"/>
              </a:rPr>
              <a:t>Preventing the generation of vague, incomplete, or misleading responses that could misinterpret legal facts.</a:t>
            </a:r>
            <a:endParaRPr lang="en-US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25" name="Text 19"/>
          <p:cNvSpPr/>
          <p:nvPr/>
        </p:nvSpPr>
        <p:spPr>
          <a:xfrm>
            <a:off x="721638" y="7282458"/>
            <a:ext cx="3608546" cy="45100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endParaRPr lang="en-US" sz="2800" dirty="0"/>
          </a:p>
        </p:txBody>
      </p:sp>
      <p:sp>
        <p:nvSpPr>
          <p:cNvPr id="30" name="Text Box 29"/>
          <p:cNvSpPr txBox="1"/>
          <p:nvPr/>
        </p:nvSpPr>
        <p:spPr>
          <a:xfrm rot="21420000">
            <a:off x="12854305" y="7757795"/>
            <a:ext cx="1772285" cy="4572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noAutofit/>
          </a:bodyPr>
          <a:p>
            <a:r>
              <a:rPr lang="en-US" b="1">
                <a:latin typeface="Algerian" panose="04020705040A02060702" charset="0"/>
                <a:cs typeface="Algerian" panose="04020705040A02060702" charset="0"/>
              </a:rPr>
              <a:t> DEPI Project</a:t>
            </a:r>
            <a:endParaRPr lang="en-US" b="1">
              <a:latin typeface="Algerian" panose="04020705040A02060702" charset="0"/>
              <a:cs typeface="Algerian" panose="04020705040A02060702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31000"/>
            <a:ext cx="3969425" cy="49613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200" b="1" dirty="0">
                <a:solidFill>
                  <a:srgbClr val="443728"/>
                </a:solidFill>
                <a:latin typeface="Bahnschrift SemiBold" panose="020B0502040204020203" charset="0"/>
                <a:ea typeface="Crimson Pro Bold" pitchFamily="34" charset="-122"/>
                <a:cs typeface="Bahnschrift SemiBold" panose="020B0502040204020203" charset="0"/>
              </a:rPr>
              <a:t>Solutions</a:t>
            </a:r>
            <a:endParaRPr lang="en-US" sz="3200" b="1" dirty="0">
              <a:solidFill>
                <a:srgbClr val="443728"/>
              </a:solidFill>
              <a:latin typeface="Bahnschrift SemiBold" panose="020B0502040204020203" charset="0"/>
              <a:ea typeface="Crimson Pro Bold" pitchFamily="34" charset="-122"/>
              <a:cs typeface="Bahnschrift SemiBold" panose="020B0502040204020203" charset="0"/>
            </a:endParaRPr>
          </a:p>
        </p:txBody>
      </p:sp>
      <p:sp>
        <p:nvSpPr>
          <p:cNvPr id="3" name="Shape 1"/>
          <p:cNvSpPr/>
          <p:nvPr>
            <p:custDataLst>
              <p:tags r:id="rId1"/>
            </p:custDataLst>
          </p:nvPr>
        </p:nvSpPr>
        <p:spPr>
          <a:xfrm>
            <a:off x="793790" y="2521625"/>
            <a:ext cx="6422231" cy="1781651"/>
          </a:xfrm>
          <a:prstGeom prst="roundRect">
            <a:avLst>
              <a:gd name="adj" fmla="val 6159"/>
            </a:avLst>
          </a:prstGeom>
          <a:solidFill>
            <a:srgbClr val="FFFCFA"/>
          </a:solidFill>
        </p:spPr>
      </p:sp>
      <p:sp>
        <p:nvSpPr>
          <p:cNvPr id="4" name="Shape 2"/>
          <p:cNvSpPr/>
          <p:nvPr>
            <p:custDataLst>
              <p:tags r:id="rId2"/>
            </p:custDataLst>
          </p:nvPr>
        </p:nvSpPr>
        <p:spPr>
          <a:xfrm>
            <a:off x="793790" y="2498765"/>
            <a:ext cx="6422231" cy="91440"/>
          </a:xfrm>
          <a:prstGeom prst="roundRect">
            <a:avLst>
              <a:gd name="adj" fmla="val 91163"/>
            </a:avLst>
          </a:prstGeom>
          <a:solidFill>
            <a:srgbClr val="835E54"/>
          </a:solidFill>
        </p:spPr>
      </p:sp>
      <p:sp>
        <p:nvSpPr>
          <p:cNvPr id="5" name="Shape 3"/>
          <p:cNvSpPr/>
          <p:nvPr>
            <p:custDataLst>
              <p:tags r:id="rId3"/>
            </p:custDataLst>
          </p:nvPr>
        </p:nvSpPr>
        <p:spPr>
          <a:xfrm>
            <a:off x="3707249" y="2223968"/>
            <a:ext cx="595313" cy="595313"/>
          </a:xfrm>
          <a:prstGeom prst="roundRect">
            <a:avLst>
              <a:gd name="adj" fmla="val 153600"/>
            </a:avLst>
          </a:prstGeom>
          <a:solidFill>
            <a:srgbClr val="835E54"/>
          </a:solidFill>
        </p:spPr>
      </p:sp>
      <p:sp>
        <p:nvSpPr>
          <p:cNvPr id="6" name="Text 4"/>
          <p:cNvSpPr/>
          <p:nvPr>
            <p:custDataLst>
              <p:tags r:id="rId4"/>
            </p:custDataLst>
          </p:nvPr>
        </p:nvSpPr>
        <p:spPr>
          <a:xfrm>
            <a:off x="3885843" y="2372797"/>
            <a:ext cx="238125" cy="2976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1</a:t>
            </a:r>
            <a:endParaRPr lang="en-US" sz="1850" dirty="0"/>
          </a:p>
        </p:txBody>
      </p:sp>
      <p:sp>
        <p:nvSpPr>
          <p:cNvPr id="7" name="Text 5"/>
          <p:cNvSpPr/>
          <p:nvPr>
            <p:custDataLst>
              <p:tags r:id="rId5"/>
            </p:custDataLst>
          </p:nvPr>
        </p:nvSpPr>
        <p:spPr>
          <a:xfrm>
            <a:off x="1015008" y="3017758"/>
            <a:ext cx="2894767" cy="31015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443728"/>
                </a:solidFill>
                <a:latin typeface="Arial" panose="020B0604020202020204" pitchFamily="34" charset="0"/>
                <a:ea typeface="Crimson Pro Bold" pitchFamily="34" charset="-122"/>
                <a:cs typeface="Arial" panose="020B0604020202020204" pitchFamily="34" charset="0"/>
              </a:rPr>
              <a:t>Optimal Chunking Strategy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>
            <p:custDataLst>
              <p:tags r:id="rId6"/>
            </p:custDataLst>
          </p:nvPr>
        </p:nvSpPr>
        <p:spPr>
          <a:xfrm>
            <a:off x="1015008" y="3446978"/>
            <a:ext cx="5979795" cy="63507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443728"/>
                </a:solidFill>
                <a:ea typeface="Open Sans" pitchFamily="34" charset="-122"/>
                <a:cs typeface="+mn-lt"/>
              </a:rPr>
              <a:t>Implementing advanced text segmentation techniques to break down legal articles into contextually rich, manageable chunks.</a:t>
            </a:r>
            <a:endParaRPr lang="en-US" sz="2000" dirty="0">
              <a:cs typeface="+mn-lt"/>
            </a:endParaRPr>
          </a:p>
        </p:txBody>
      </p:sp>
      <p:sp>
        <p:nvSpPr>
          <p:cNvPr id="9" name="Shape 7"/>
          <p:cNvSpPr/>
          <p:nvPr>
            <p:custDataLst>
              <p:tags r:id="rId7"/>
            </p:custDataLst>
          </p:nvPr>
        </p:nvSpPr>
        <p:spPr>
          <a:xfrm>
            <a:off x="7414379" y="2521625"/>
            <a:ext cx="6422231" cy="1781651"/>
          </a:xfrm>
          <a:prstGeom prst="roundRect">
            <a:avLst>
              <a:gd name="adj" fmla="val 6159"/>
            </a:avLst>
          </a:prstGeom>
          <a:solidFill>
            <a:srgbClr val="FFFCFA"/>
          </a:solidFill>
        </p:spPr>
      </p:sp>
      <p:sp>
        <p:nvSpPr>
          <p:cNvPr id="10" name="Shape 8"/>
          <p:cNvSpPr/>
          <p:nvPr>
            <p:custDataLst>
              <p:tags r:id="rId8"/>
            </p:custDataLst>
          </p:nvPr>
        </p:nvSpPr>
        <p:spPr>
          <a:xfrm>
            <a:off x="7414379" y="2498765"/>
            <a:ext cx="6422231" cy="91440"/>
          </a:xfrm>
          <a:prstGeom prst="roundRect">
            <a:avLst>
              <a:gd name="adj" fmla="val 91163"/>
            </a:avLst>
          </a:prstGeom>
          <a:solidFill>
            <a:srgbClr val="835E54"/>
          </a:solidFill>
        </p:spPr>
      </p:sp>
      <p:sp>
        <p:nvSpPr>
          <p:cNvPr id="11" name="Shape 9"/>
          <p:cNvSpPr/>
          <p:nvPr>
            <p:custDataLst>
              <p:tags r:id="rId9"/>
            </p:custDataLst>
          </p:nvPr>
        </p:nvSpPr>
        <p:spPr>
          <a:xfrm>
            <a:off x="10327838" y="2223968"/>
            <a:ext cx="595313" cy="595313"/>
          </a:xfrm>
          <a:prstGeom prst="roundRect">
            <a:avLst>
              <a:gd name="adj" fmla="val 153600"/>
            </a:avLst>
          </a:prstGeom>
          <a:solidFill>
            <a:srgbClr val="835E54"/>
          </a:solidFill>
        </p:spPr>
      </p:sp>
      <p:sp>
        <p:nvSpPr>
          <p:cNvPr id="12" name="Text 10"/>
          <p:cNvSpPr/>
          <p:nvPr>
            <p:custDataLst>
              <p:tags r:id="rId10"/>
            </p:custDataLst>
          </p:nvPr>
        </p:nvSpPr>
        <p:spPr>
          <a:xfrm>
            <a:off x="10506432" y="2372797"/>
            <a:ext cx="238125" cy="2976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2</a:t>
            </a:r>
            <a:endParaRPr lang="en-US" sz="1850" dirty="0"/>
          </a:p>
        </p:txBody>
      </p:sp>
      <p:sp>
        <p:nvSpPr>
          <p:cNvPr id="13" name="Text 11"/>
          <p:cNvSpPr/>
          <p:nvPr>
            <p:custDataLst>
              <p:tags r:id="rId11"/>
            </p:custDataLst>
          </p:nvPr>
        </p:nvSpPr>
        <p:spPr>
          <a:xfrm>
            <a:off x="7635597" y="3017758"/>
            <a:ext cx="2749748" cy="31015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443728"/>
                </a:solidFill>
                <a:latin typeface="Arial" panose="020B0604020202020204" pitchFamily="34" charset="0"/>
                <a:ea typeface="Crimson Pro Bold" pitchFamily="34" charset="-122"/>
                <a:cs typeface="Arial" panose="020B0604020202020204" pitchFamily="34" charset="0"/>
              </a:rPr>
              <a:t>High-Quality Embeddings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>
            <p:custDataLst>
              <p:tags r:id="rId12"/>
            </p:custDataLst>
          </p:nvPr>
        </p:nvSpPr>
        <p:spPr>
          <a:xfrm>
            <a:off x="7635597" y="3446978"/>
            <a:ext cx="5979795" cy="63507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443728"/>
                </a:solidFill>
                <a:latin typeface="Calibri" panose="020F0502020204030204" charset="0"/>
                <a:ea typeface="Open Sans" pitchFamily="34" charset="-122"/>
                <a:cs typeface="Calibri" panose="020F0502020204030204" charset="0"/>
              </a:rPr>
              <a:t>Utilizing or fine-tuning embedding models specifically for legal contexts to better capture semantic nuances.</a:t>
            </a:r>
            <a:endParaRPr lang="en-US" sz="2000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5" name="Shape 13"/>
          <p:cNvSpPr/>
          <p:nvPr>
            <p:custDataLst>
              <p:tags r:id="rId13"/>
            </p:custDataLst>
          </p:nvPr>
        </p:nvSpPr>
        <p:spPr>
          <a:xfrm>
            <a:off x="793790" y="4799290"/>
            <a:ext cx="6422231" cy="2099191"/>
          </a:xfrm>
          <a:prstGeom prst="roundRect">
            <a:avLst>
              <a:gd name="adj" fmla="val 5227"/>
            </a:avLst>
          </a:prstGeom>
          <a:solidFill>
            <a:srgbClr val="FFFCFA"/>
          </a:solidFill>
        </p:spPr>
      </p:sp>
      <p:sp>
        <p:nvSpPr>
          <p:cNvPr id="16" name="Shape 14"/>
          <p:cNvSpPr/>
          <p:nvPr>
            <p:custDataLst>
              <p:tags r:id="rId14"/>
            </p:custDataLst>
          </p:nvPr>
        </p:nvSpPr>
        <p:spPr>
          <a:xfrm>
            <a:off x="793790" y="4776430"/>
            <a:ext cx="6422231" cy="91440"/>
          </a:xfrm>
          <a:prstGeom prst="roundRect">
            <a:avLst>
              <a:gd name="adj" fmla="val 91163"/>
            </a:avLst>
          </a:prstGeom>
          <a:solidFill>
            <a:srgbClr val="835E54"/>
          </a:solidFill>
        </p:spPr>
      </p:sp>
      <p:sp>
        <p:nvSpPr>
          <p:cNvPr id="17" name="Shape 15"/>
          <p:cNvSpPr/>
          <p:nvPr>
            <p:custDataLst>
              <p:tags r:id="rId15"/>
            </p:custDataLst>
          </p:nvPr>
        </p:nvSpPr>
        <p:spPr>
          <a:xfrm>
            <a:off x="3707249" y="4501634"/>
            <a:ext cx="595313" cy="595313"/>
          </a:xfrm>
          <a:prstGeom prst="roundRect">
            <a:avLst>
              <a:gd name="adj" fmla="val 153600"/>
            </a:avLst>
          </a:prstGeom>
          <a:solidFill>
            <a:srgbClr val="835E54"/>
          </a:solidFill>
        </p:spPr>
      </p:sp>
      <p:sp>
        <p:nvSpPr>
          <p:cNvPr id="18" name="Text 16"/>
          <p:cNvSpPr/>
          <p:nvPr>
            <p:custDataLst>
              <p:tags r:id="rId16"/>
            </p:custDataLst>
          </p:nvPr>
        </p:nvSpPr>
        <p:spPr>
          <a:xfrm>
            <a:off x="3885843" y="4650462"/>
            <a:ext cx="238125" cy="2976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3</a:t>
            </a:r>
            <a:endParaRPr lang="en-US" sz="1850" dirty="0"/>
          </a:p>
        </p:txBody>
      </p:sp>
      <p:sp>
        <p:nvSpPr>
          <p:cNvPr id="19" name="Text 17"/>
          <p:cNvSpPr/>
          <p:nvPr>
            <p:custDataLst>
              <p:tags r:id="rId17"/>
            </p:custDataLst>
          </p:nvPr>
        </p:nvSpPr>
        <p:spPr>
          <a:xfrm>
            <a:off x="1015008" y="5295424"/>
            <a:ext cx="2480905" cy="31015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443728"/>
                </a:solidFill>
                <a:latin typeface="Arial" panose="020B0604020202020204" pitchFamily="34" charset="0"/>
                <a:ea typeface="Crimson Pro Bold" pitchFamily="34" charset="-122"/>
                <a:cs typeface="Arial" panose="020B0604020202020204" pitchFamily="34" charset="0"/>
              </a:rPr>
              <a:t>RAG Context Injection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18"/>
          <p:cNvSpPr/>
          <p:nvPr>
            <p:custDataLst>
              <p:tags r:id="rId18"/>
            </p:custDataLst>
          </p:nvPr>
        </p:nvSpPr>
        <p:spPr>
          <a:xfrm>
            <a:off x="1015008" y="5724644"/>
            <a:ext cx="5979795" cy="95261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443728"/>
                </a:solidFill>
                <a:latin typeface="Calibri" panose="020F0502020204030204" charset="0"/>
                <a:ea typeface="Open Sans" pitchFamily="34" charset="-122"/>
                <a:cs typeface="Calibri" panose="020F0502020204030204" charset="0"/>
              </a:rPr>
              <a:t>Rigorously integrating retrieved context directly into the LLM's prompt to ensure answers are factually anchored and minimize hallucination.</a:t>
            </a:r>
            <a:endParaRPr lang="en-US" sz="2000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21" name="Shape 19"/>
          <p:cNvSpPr/>
          <p:nvPr>
            <p:custDataLst>
              <p:tags r:id="rId19"/>
            </p:custDataLst>
          </p:nvPr>
        </p:nvSpPr>
        <p:spPr>
          <a:xfrm>
            <a:off x="7414379" y="4799290"/>
            <a:ext cx="6422231" cy="2099191"/>
          </a:xfrm>
          <a:prstGeom prst="roundRect">
            <a:avLst>
              <a:gd name="adj" fmla="val 5227"/>
            </a:avLst>
          </a:prstGeom>
          <a:solidFill>
            <a:srgbClr val="FFFCFA"/>
          </a:solidFill>
        </p:spPr>
      </p:sp>
      <p:sp>
        <p:nvSpPr>
          <p:cNvPr id="22" name="Shape 20"/>
          <p:cNvSpPr/>
          <p:nvPr>
            <p:custDataLst>
              <p:tags r:id="rId20"/>
            </p:custDataLst>
          </p:nvPr>
        </p:nvSpPr>
        <p:spPr>
          <a:xfrm>
            <a:off x="7414379" y="4776430"/>
            <a:ext cx="6422231" cy="91440"/>
          </a:xfrm>
          <a:prstGeom prst="roundRect">
            <a:avLst>
              <a:gd name="adj" fmla="val 91163"/>
            </a:avLst>
          </a:prstGeom>
          <a:solidFill>
            <a:srgbClr val="835E54"/>
          </a:solidFill>
        </p:spPr>
      </p:sp>
      <p:sp>
        <p:nvSpPr>
          <p:cNvPr id="23" name="Shape 21"/>
          <p:cNvSpPr/>
          <p:nvPr>
            <p:custDataLst>
              <p:tags r:id="rId21"/>
            </p:custDataLst>
          </p:nvPr>
        </p:nvSpPr>
        <p:spPr>
          <a:xfrm>
            <a:off x="10327838" y="4501634"/>
            <a:ext cx="595313" cy="595313"/>
          </a:xfrm>
          <a:prstGeom prst="roundRect">
            <a:avLst>
              <a:gd name="adj" fmla="val 153600"/>
            </a:avLst>
          </a:prstGeom>
          <a:solidFill>
            <a:srgbClr val="835E54"/>
          </a:solidFill>
        </p:spPr>
      </p:sp>
      <p:sp>
        <p:nvSpPr>
          <p:cNvPr id="24" name="Text 22"/>
          <p:cNvSpPr/>
          <p:nvPr>
            <p:custDataLst>
              <p:tags r:id="rId22"/>
            </p:custDataLst>
          </p:nvPr>
        </p:nvSpPr>
        <p:spPr>
          <a:xfrm>
            <a:off x="10506432" y="4650462"/>
            <a:ext cx="238125" cy="2976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4</a:t>
            </a:r>
            <a:endParaRPr lang="en-US" sz="1850" dirty="0"/>
          </a:p>
        </p:txBody>
      </p:sp>
      <p:sp>
        <p:nvSpPr>
          <p:cNvPr id="25" name="Text 23"/>
          <p:cNvSpPr/>
          <p:nvPr>
            <p:custDataLst>
              <p:tags r:id="rId23"/>
            </p:custDataLst>
          </p:nvPr>
        </p:nvSpPr>
        <p:spPr>
          <a:xfrm>
            <a:off x="7635597" y="5295424"/>
            <a:ext cx="2714863" cy="31015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443728"/>
                </a:solidFill>
                <a:latin typeface="Arial" panose="020B0604020202020204" pitchFamily="34" charset="0"/>
                <a:ea typeface="Crimson Pro Bold" pitchFamily="34" charset="-122"/>
                <a:cs typeface="Arial" panose="020B0604020202020204" pitchFamily="34" charset="0"/>
              </a:rPr>
              <a:t>LLM Performance Testing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 24"/>
          <p:cNvSpPr/>
          <p:nvPr>
            <p:custDataLst>
              <p:tags r:id="rId24"/>
            </p:custDataLst>
          </p:nvPr>
        </p:nvSpPr>
        <p:spPr>
          <a:xfrm>
            <a:off x="7635597" y="5724644"/>
            <a:ext cx="5979795" cy="95261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443728"/>
                </a:solidFill>
                <a:latin typeface="Calibri" panose="020F0502020204030204" charset="0"/>
                <a:ea typeface="Open Sans" pitchFamily="34" charset="-122"/>
                <a:cs typeface="Calibri" panose="020F0502020204030204" charset="0"/>
              </a:rPr>
              <a:t>Conducting extensive testing with various Large Language Models (LLMs) to identify the best performer for legal question answering.</a:t>
            </a:r>
            <a:endParaRPr lang="en-US" sz="2000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27" name="Text Box 26"/>
          <p:cNvSpPr txBox="1"/>
          <p:nvPr/>
        </p:nvSpPr>
        <p:spPr>
          <a:xfrm rot="21420000">
            <a:off x="12854305" y="7757795"/>
            <a:ext cx="1772285" cy="4572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noAutofit/>
          </a:bodyPr>
          <a:p>
            <a:r>
              <a:rPr lang="en-US" b="1">
                <a:latin typeface="Algerian" panose="04020705040A02060702" charset="0"/>
                <a:cs typeface="Algerian" panose="04020705040A02060702" charset="0"/>
              </a:rPr>
              <a:t> DEPI Project</a:t>
            </a:r>
            <a:endParaRPr lang="en-US" b="1">
              <a:latin typeface="Algerian" panose="04020705040A02060702" charset="0"/>
              <a:cs typeface="Algerian" panose="04020705040A02060702" charset="0"/>
            </a:endParaRPr>
          </a:p>
        </p:txBody>
      </p:sp>
      <p:sp>
        <p:nvSpPr>
          <p:cNvPr id="28" name="Freeform 4"/>
          <p:cNvSpPr/>
          <p:nvPr/>
        </p:nvSpPr>
        <p:spPr>
          <a:xfrm>
            <a:off x="12843510" y="199390"/>
            <a:ext cx="1782445" cy="1733550"/>
          </a:xfrm>
          <a:custGeom>
            <a:avLst/>
            <a:gdLst/>
            <a:ahLst/>
            <a:cxnLst/>
            <a:rect l="l" t="t" r="r" b="b"/>
            <a:pathLst>
              <a:path w="4455000" h="4114800">
                <a:moveTo>
                  <a:pt x="0" y="0"/>
                </a:moveTo>
                <a:lnTo>
                  <a:pt x="4455000" y="0"/>
                </a:lnTo>
                <a:lnTo>
                  <a:pt x="44550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35343"/>
            <a:ext cx="6395680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00" b="1" dirty="0">
                <a:solidFill>
                  <a:srgbClr val="443728"/>
                </a:solidFill>
                <a:latin typeface="Bahnschrift SemiLight" panose="020B0502040204020203" charset="0"/>
                <a:ea typeface="Crimson Pro Bold" pitchFamily="34" charset="-122"/>
                <a:cs typeface="Bahnschrift SemiLight" panose="020B0502040204020203" charset="0"/>
              </a:rPr>
              <a:t>Impact &amp; Future Prospects</a:t>
            </a:r>
            <a:endParaRPr lang="en-US" sz="4400" dirty="0">
              <a:latin typeface="Bahnschrift SemiLight" panose="020B0502040204020203" charset="0"/>
              <a:cs typeface="Bahnschrift SemiLight" panose="020B0502040204020203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1997750"/>
            <a:ext cx="3048000" cy="18838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4108371"/>
            <a:ext cx="2931438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Bahnschrift SemiBold" panose="020B0502040204020203" charset="0"/>
                <a:ea typeface="Crimson Pro Bold" pitchFamily="34" charset="-122"/>
                <a:cs typeface="Bahnschrift SemiBold" panose="020B0502040204020203" charset="0"/>
              </a:rPr>
              <a:t>Enhanced Legal Literacy</a:t>
            </a:r>
            <a:endParaRPr lang="en-US" sz="2200" dirty="0"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793790" y="4598789"/>
            <a:ext cx="3048000" cy="21774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443728"/>
                </a:solidFill>
                <a:latin typeface="Calibri" panose="020F0502020204030204" charset="0"/>
                <a:ea typeface="Open Sans" pitchFamily="34" charset="-122"/>
                <a:cs typeface="Calibri" panose="020F0502020204030204" charset="0"/>
              </a:rPr>
              <a:t>Significantly enhances citizen access to constitutional knowledge, thereby promoting widespread legal literacy and awareness.</a:t>
            </a:r>
            <a:endParaRPr lang="en-US" sz="2000" dirty="0">
              <a:latin typeface="Calibri" panose="020F0502020204030204" charset="0"/>
              <a:cs typeface="Calibri" panose="020F0502020204030204" charset="0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5595" y="1997710"/>
            <a:ext cx="3251200" cy="188404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125595" y="4108450"/>
            <a:ext cx="3331845" cy="7086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Bahnschrift SemiBold" panose="020B0502040204020203" charset="0"/>
                <a:ea typeface="Crimson Pro Bold" pitchFamily="34" charset="-122"/>
                <a:cs typeface="Bahnschrift SemiBold" panose="020B0502040204020203" charset="0"/>
              </a:rPr>
              <a:t>Government Transparency</a:t>
            </a:r>
            <a:endParaRPr lang="en-US" sz="2200" b="1" dirty="0">
              <a:solidFill>
                <a:srgbClr val="443728"/>
              </a:solidFill>
              <a:latin typeface="Bahnschrift SemiBold" panose="020B0502040204020203" charset="0"/>
              <a:ea typeface="Crimson Pro Bold" pitchFamily="34" charset="-122"/>
              <a:cs typeface="Bahnschrift SemiBold" panose="020B0502040204020203" charset="0"/>
            </a:endParaRPr>
          </a:p>
          <a:p>
            <a:pPr marL="0" indent="0" algn="l">
              <a:lnSpc>
                <a:spcPts val="2750"/>
              </a:lnSpc>
              <a:buNone/>
            </a:pPr>
            <a:endParaRPr lang="en-US" sz="2200" b="1" dirty="0">
              <a:solidFill>
                <a:srgbClr val="443728"/>
              </a:solidFill>
              <a:latin typeface="Bahnschrift SemiBold" panose="020B0502040204020203" charset="0"/>
              <a:ea typeface="Crimson Pro Bold" pitchFamily="34" charset="-122"/>
              <a:cs typeface="Bahnschrift SemiBold" panose="020B0502040204020203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4128135" y="4598670"/>
            <a:ext cx="3256915" cy="18148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443728"/>
                </a:solidFill>
                <a:latin typeface="Calibri" panose="020F0502020204030204" charset="0"/>
                <a:ea typeface="Open Sans" pitchFamily="34" charset="-122"/>
                <a:cs typeface="Calibri" panose="020F0502020204030204" charset="0"/>
              </a:rPr>
              <a:t>Supports government transparency and administrative reform goals, directly aligning with Egypt's Vision 2030 objectives.</a:t>
            </a:r>
            <a:endParaRPr lang="en-US" sz="2000" dirty="0">
              <a:latin typeface="Calibri" panose="020F0502020204030204" charset="0"/>
              <a:cs typeface="Calibri" panose="020F0502020204030204" charset="0"/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2705" y="1997710"/>
            <a:ext cx="2882900" cy="188404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456884" y="4108371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Bahnschrift SemiBold" panose="020B0502040204020203" charset="0"/>
                <a:ea typeface="Crimson Pro Bold" pitchFamily="34" charset="-122"/>
                <a:cs typeface="Bahnschrift SemiBold" panose="020B0502040204020203" charset="0"/>
              </a:rPr>
              <a:t>   Domain Expansion</a:t>
            </a:r>
            <a:endParaRPr lang="en-US" sz="2200" dirty="0"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11" name="Text 6"/>
          <p:cNvSpPr/>
          <p:nvPr/>
        </p:nvSpPr>
        <p:spPr>
          <a:xfrm>
            <a:off x="7672070" y="4598670"/>
            <a:ext cx="2921635" cy="18148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443728"/>
                </a:solidFill>
                <a:latin typeface="Calibri" panose="020F0502020204030204" charset="0"/>
                <a:ea typeface="Open Sans" pitchFamily="34" charset="-122"/>
                <a:cs typeface="Calibri" panose="020F0502020204030204" charset="0"/>
              </a:rPr>
              <a:t>Offers immense potential for expansion into other critical legal domains and a broad spectrum of government services.</a:t>
            </a:r>
            <a:endParaRPr lang="en-US" sz="2000" dirty="0">
              <a:latin typeface="Calibri" panose="020F0502020204030204" charset="0"/>
              <a:cs typeface="Calibri" panose="020F0502020204030204" charset="0"/>
            </a:endParaRPr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79760" y="1997710"/>
            <a:ext cx="3284855" cy="188404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894536" y="4063286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Bahnschrift SemiBold" panose="020B0502040204020203" charset="0"/>
                <a:ea typeface="Crimson Pro Bold" pitchFamily="34" charset="-122"/>
                <a:cs typeface="Bahnschrift SemiBold" panose="020B0502040204020203" charset="0"/>
              </a:rPr>
              <a:t>Ecosystem Integration</a:t>
            </a:r>
            <a:endParaRPr lang="en-US" sz="2200" dirty="0"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14" name="Text 8"/>
          <p:cNvSpPr/>
          <p:nvPr/>
        </p:nvSpPr>
        <p:spPr>
          <a:xfrm>
            <a:off x="10894536" y="4599424"/>
            <a:ext cx="3048119" cy="21774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443728"/>
                </a:solidFill>
                <a:latin typeface="Calibri" panose="020F0502020204030204" charset="0"/>
                <a:ea typeface="Open Sans" pitchFamily="34" charset="-122"/>
                <a:cs typeface="Calibri" panose="020F0502020204030204" charset="0"/>
              </a:rPr>
              <a:t>Presents a unique opportunity to seamlessly integrate with Egypt’s national AI platforms and the broader Digital Egypt ecosystem.</a:t>
            </a:r>
            <a:endParaRPr lang="en-US" sz="2000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5" name="Text 9"/>
          <p:cNvSpPr/>
          <p:nvPr/>
        </p:nvSpPr>
        <p:spPr>
          <a:xfrm>
            <a:off x="793790" y="7031355"/>
            <a:ext cx="1304282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30" name="Text Box 29"/>
          <p:cNvSpPr txBox="1"/>
          <p:nvPr/>
        </p:nvSpPr>
        <p:spPr>
          <a:xfrm rot="21420000">
            <a:off x="12854305" y="7757795"/>
            <a:ext cx="1772285" cy="4572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noAutofit/>
          </a:bodyPr>
          <a:p>
            <a:r>
              <a:rPr lang="en-US" b="1">
                <a:latin typeface="Algerian" panose="04020705040A02060702" charset="0"/>
                <a:cs typeface="Algerian" panose="04020705040A02060702" charset="0"/>
              </a:rPr>
              <a:t> DEPI Project</a:t>
            </a:r>
            <a:endParaRPr lang="en-US" b="1">
              <a:latin typeface="Algerian" panose="04020705040A02060702" charset="0"/>
              <a:cs typeface="Algerian" panose="04020705040A02060702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 4"/>
          <p:cNvSpPr/>
          <p:nvPr/>
        </p:nvSpPr>
        <p:spPr>
          <a:xfrm>
            <a:off x="4161155" y="114935"/>
            <a:ext cx="5977255" cy="3536315"/>
          </a:xfrm>
          <a:custGeom>
            <a:avLst/>
            <a:gdLst/>
            <a:ahLst/>
            <a:cxnLst/>
            <a:rect l="l" t="t" r="r" b="b"/>
            <a:pathLst>
              <a:path w="7891543" h="6184100">
                <a:moveTo>
                  <a:pt x="0" y="0"/>
                </a:moveTo>
                <a:lnTo>
                  <a:pt x="7891543" y="0"/>
                </a:lnTo>
                <a:lnTo>
                  <a:pt x="7891543" y="6184100"/>
                </a:lnTo>
                <a:lnTo>
                  <a:pt x="0" y="618410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p>
            <a:endParaRPr lang="en-GB" altLang="en-US"/>
          </a:p>
        </p:txBody>
      </p:sp>
      <p:sp>
        <p:nvSpPr>
          <p:cNvPr id="2" name="Text 0"/>
          <p:cNvSpPr/>
          <p:nvPr/>
        </p:nvSpPr>
        <p:spPr>
          <a:xfrm>
            <a:off x="774502" y="609362"/>
            <a:ext cx="6442472" cy="69151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endParaRPr lang="en-US" sz="4350" dirty="0"/>
          </a:p>
        </p:txBody>
      </p:sp>
      <p:sp>
        <p:nvSpPr>
          <p:cNvPr id="9" name="Text 5"/>
          <p:cNvSpPr/>
          <p:nvPr/>
        </p:nvSpPr>
        <p:spPr>
          <a:xfrm>
            <a:off x="6419929" y="2683510"/>
            <a:ext cx="3718798" cy="3456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endParaRPr lang="en-US" sz="2150" dirty="0"/>
          </a:p>
        </p:txBody>
      </p:sp>
      <p:sp>
        <p:nvSpPr>
          <p:cNvPr id="13" name="Text 8"/>
          <p:cNvSpPr/>
          <p:nvPr/>
        </p:nvSpPr>
        <p:spPr>
          <a:xfrm>
            <a:off x="7503557" y="3651290"/>
            <a:ext cx="3815239" cy="3456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endParaRPr lang="en-US" sz="2150" dirty="0"/>
          </a:p>
        </p:txBody>
      </p:sp>
      <p:sp>
        <p:nvSpPr>
          <p:cNvPr id="14" name="Text 9"/>
          <p:cNvSpPr/>
          <p:nvPr/>
        </p:nvSpPr>
        <p:spPr>
          <a:xfrm>
            <a:off x="774502" y="4466987"/>
            <a:ext cx="13081397" cy="7081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774502" y="5424011"/>
            <a:ext cx="13081397" cy="7081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endParaRPr lang="en-US" sz="1700" dirty="0"/>
          </a:p>
        </p:txBody>
      </p:sp>
      <p:sp>
        <p:nvSpPr>
          <p:cNvPr id="16" name="Text 11"/>
          <p:cNvSpPr/>
          <p:nvPr/>
        </p:nvSpPr>
        <p:spPr>
          <a:xfrm>
            <a:off x="774502" y="6381036"/>
            <a:ext cx="13081397" cy="35409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4645025" y="918210"/>
            <a:ext cx="6673850" cy="66484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endParaRPr lang="en-US" sz="6600" b="1" dirty="0">
              <a:solidFill>
                <a:srgbClr val="443728"/>
              </a:solidFill>
              <a:latin typeface="Bell MT" panose="02020503060305020303" charset="0"/>
              <a:ea typeface="Crimson Pro Bold" pitchFamily="34" charset="-122"/>
              <a:cs typeface="Bell MT" panose="02020503060305020303" charset="0"/>
            </a:endParaRPr>
          </a:p>
        </p:txBody>
      </p:sp>
      <p:sp>
        <p:nvSpPr>
          <p:cNvPr id="30" name="Text Box 29"/>
          <p:cNvSpPr txBox="1"/>
          <p:nvPr/>
        </p:nvSpPr>
        <p:spPr>
          <a:xfrm rot="21420000">
            <a:off x="12854305" y="7757795"/>
            <a:ext cx="1772285" cy="4572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noAutofit/>
          </a:bodyPr>
          <a:p>
            <a:r>
              <a:rPr lang="en-US" b="1">
                <a:latin typeface="Algerian" panose="04020705040A02060702" charset="0"/>
                <a:cs typeface="Algerian" panose="04020705040A02060702" charset="0"/>
              </a:rPr>
              <a:t> DEPI Project</a:t>
            </a:r>
            <a:endParaRPr lang="en-US" b="1">
              <a:latin typeface="Algerian" panose="04020705040A02060702" charset="0"/>
              <a:cs typeface="Algerian" panose="04020705040A02060702" charset="0"/>
            </a:endParaRPr>
          </a:p>
        </p:txBody>
      </p:sp>
      <p:sp>
        <p:nvSpPr>
          <p:cNvPr id="19" name="Text Box 18"/>
          <p:cNvSpPr txBox="1"/>
          <p:nvPr/>
        </p:nvSpPr>
        <p:spPr>
          <a:xfrm>
            <a:off x="774700" y="3355975"/>
            <a:ext cx="1019746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en-US" altLang="en-GB" sz="2800"/>
              <a:t>Digital Egypt Pioneers Initiative (DEPI) - Generative AI Track</a:t>
            </a:r>
            <a:endParaRPr lang="en-US" altLang="en-GB" sz="2800"/>
          </a:p>
        </p:txBody>
      </p:sp>
      <p:sp>
        <p:nvSpPr>
          <p:cNvPr id="20" name="Text Box 19"/>
          <p:cNvSpPr txBox="1"/>
          <p:nvPr/>
        </p:nvSpPr>
        <p:spPr>
          <a:xfrm>
            <a:off x="916305" y="3940810"/>
            <a:ext cx="6287770" cy="36918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sz="3600" b="1" dirty="0">
              <a:solidFill>
                <a:srgbClr val="443728"/>
              </a:solidFill>
              <a:latin typeface="Bahnschrift SemiLight" panose="020B0502040204020203" charset="0"/>
              <a:ea typeface="Crimson Pro Bold" pitchFamily="34" charset="-122"/>
              <a:cs typeface="Bahnschrift SemiLight" panose="020B0502040204020203" charset="0"/>
              <a:sym typeface="+mn-ea"/>
            </a:endParaRPr>
          </a:p>
          <a:p>
            <a:r>
              <a:rPr lang="en-US" sz="3600" b="1" dirty="0">
                <a:solidFill>
                  <a:srgbClr val="443728"/>
                </a:solidFill>
                <a:latin typeface="Bahnschrift SemiLight" panose="020B0502040204020203" charset="0"/>
                <a:ea typeface="Crimson Pro Bold" pitchFamily="34" charset="-122"/>
                <a:cs typeface="Bahnschrift SemiLight" panose="020B0502040204020203" charset="0"/>
                <a:sym typeface="+mn-ea"/>
              </a:rPr>
              <a:t>      Team Members</a:t>
            </a:r>
            <a:r>
              <a:rPr lang="en-US" altLang="en-GB" sz="3600" b="1">
                <a:latin typeface="Bahnschrift SemiLight" panose="020B0502040204020203" charset="0"/>
                <a:cs typeface="Bahnschrift SemiLight" panose="020B0502040204020203" charset="0"/>
              </a:rPr>
              <a:t>:</a:t>
            </a:r>
            <a:endParaRPr lang="en-US" altLang="en-GB" sz="3600" b="1">
              <a:latin typeface="Bahnschrift SemiLight" panose="020B0502040204020203" charset="0"/>
              <a:cs typeface="Bahnschrift SemiLight" panose="020B0502040204020203" charset="0"/>
            </a:endParaRPr>
          </a:p>
          <a:p>
            <a:endParaRPr lang="en-US" altLang="en-GB"/>
          </a:p>
          <a:p>
            <a:pPr marL="342900" indent="-342900">
              <a:lnSpc>
                <a:spcPct val="120000"/>
              </a:lnSpc>
              <a:buFont typeface="Wingdings" panose="05000000000000000000" charset="0"/>
              <a:buChar char="q"/>
            </a:pPr>
            <a:r>
              <a:rPr lang="en-US" altLang="en-GB" sz="2400">
                <a:latin typeface="Arial" panose="020B0604020202020204" pitchFamily="34" charset="0"/>
                <a:cs typeface="Arial" panose="020B0604020202020204" pitchFamily="34" charset="0"/>
              </a:rPr>
              <a:t>Mostafa Ahmed Elgindy</a:t>
            </a:r>
            <a:endParaRPr lang="en-US" altLang="en-GB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charset="0"/>
              <a:buChar char="q"/>
            </a:pPr>
            <a:r>
              <a:rPr lang="en-US" altLang="en-GB" sz="2400">
                <a:latin typeface="Arial" panose="020B0604020202020204" pitchFamily="34" charset="0"/>
                <a:cs typeface="Arial" panose="020B0604020202020204" pitchFamily="34" charset="0"/>
              </a:rPr>
              <a:t>Abdallah El-Sayed Saad</a:t>
            </a:r>
            <a:endParaRPr lang="en-US" altLang="en-GB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charset="0"/>
              <a:buChar char="q"/>
            </a:pPr>
            <a:r>
              <a:rPr lang="en-US" altLang="en-GB" sz="2400">
                <a:latin typeface="Arial" panose="020B0604020202020204" pitchFamily="34" charset="0"/>
                <a:cs typeface="Arial" panose="020B0604020202020204" pitchFamily="34" charset="0"/>
              </a:rPr>
              <a:t>Mahmoud Ahmed Salah El-Din</a:t>
            </a:r>
            <a:endParaRPr lang="en-US" altLang="en-GB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charset="0"/>
              <a:buChar char="q"/>
            </a:pPr>
            <a:r>
              <a:rPr lang="en-US" altLang="en-GB" sz="2400">
                <a:latin typeface="Arial" panose="020B0604020202020204" pitchFamily="34" charset="0"/>
                <a:cs typeface="Arial" panose="020B0604020202020204" pitchFamily="34" charset="0"/>
              </a:rPr>
              <a:t>Ahmed Ebrahim Elmesery</a:t>
            </a:r>
            <a:endParaRPr lang="en-US" altLang="en-GB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charset="0"/>
              <a:buChar char="q"/>
            </a:pPr>
            <a:r>
              <a:rPr lang="en-US" altLang="en-GB" sz="2400">
                <a:latin typeface="Arial" panose="020B0604020202020204" pitchFamily="34" charset="0"/>
                <a:cs typeface="Arial" panose="020B0604020202020204" pitchFamily="34" charset="0"/>
              </a:rPr>
              <a:t>Hager Ayman Abdullah</a:t>
            </a:r>
            <a:endParaRPr lang="en-US" altLang="en-GB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Freeform 5"/>
          <p:cNvSpPr/>
          <p:nvPr/>
        </p:nvSpPr>
        <p:spPr>
          <a:xfrm>
            <a:off x="774700" y="4467225"/>
            <a:ext cx="894080" cy="582930"/>
          </a:xfrm>
          <a:custGeom>
            <a:avLst/>
            <a:gdLst/>
            <a:ahLst/>
            <a:cxnLst/>
            <a:rect l="l" t="t" r="r" b="b"/>
            <a:pathLst>
              <a:path w="2513118" h="1329668">
                <a:moveTo>
                  <a:pt x="0" y="0"/>
                </a:moveTo>
                <a:lnTo>
                  <a:pt x="2513118" y="0"/>
                </a:lnTo>
                <a:lnTo>
                  <a:pt x="2513118" y="1329667"/>
                </a:lnTo>
                <a:lnTo>
                  <a:pt x="0" y="132966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p>
            <a:endParaRPr lang="en-GB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476.9031496062992,&quot;left&quot;:476.6906299212598,&quot;top&quot;:148.59377952755906,&quot;width&quot;:657.5593700787401}"/>
</p:tagLst>
</file>

<file path=ppt/tags/tag2.xml><?xml version="1.0" encoding="utf-8"?>
<p:tagLst xmlns:p="http://schemas.openxmlformats.org/presentationml/2006/main">
  <p:tag name="KSO_WM_DIAGRAM_VIRTUALLY_FRAME" val="{&quot;height&quot;:476.9031496062992,&quot;left&quot;:476.6906299212598,&quot;top&quot;:148.59377952755906,&quot;width&quot;:657.5593700787401}"/>
</p:tagLst>
</file>

<file path=ppt/tags/tag3.xml><?xml version="1.0" encoding="utf-8"?>
<p:tagLst xmlns:p="http://schemas.openxmlformats.org/presentationml/2006/main">
  <p:tag name="KSO_WM_DIAGRAM_VIRTUALLY_FRAME" val="{&quot;height&quot;:476.9031496062992,&quot;left&quot;:476.6906299212598,&quot;top&quot;:148.59377952755906,&quot;width&quot;:657.5593700787401}"/>
</p:tagLst>
</file>

<file path=ppt/tags/tag4.xml><?xml version="1.0" encoding="utf-8"?>
<p:tagLst xmlns:p="http://schemas.openxmlformats.org/presentationml/2006/main">
  <p:tag name="KSO_WM_DIAGRAM_VIRTUALLY_FRAME" val="{&quot;height&quot;:476.9031496062992,&quot;left&quot;:476.6906299212598,&quot;top&quot;:148.59377952755906,&quot;width&quot;:657.5593700787401}"/>
</p:tagLst>
</file>

<file path=ppt/tags/tag5.xml><?xml version="1.0" encoding="utf-8"?>
<p:tagLst xmlns:p="http://schemas.openxmlformats.org/presentationml/2006/main">
  <p:tag name="KSO_WM_DIAGRAM_VIRTUALLY_FRAME" val="{&quot;height&quot;:476.9031496062992,&quot;left&quot;:476.6906299212598,&quot;top&quot;:148.59377952755906,&quot;width&quot;:657.5593700787401}"/>
</p:tagLst>
</file>

<file path=ppt/tags/tag6.xml><?xml version="1.0" encoding="utf-8"?>
<p:tagLst xmlns:p="http://schemas.openxmlformats.org/presentationml/2006/main">
  <p:tag name="KSO_WM_DIAGRAM_VIRTUALLY_FRAME" val="{&quot;height&quot;:476.9031496062992,&quot;left&quot;:476.6906299212598,&quot;top&quot;:148.59377952755906,&quot;width&quot;:657.5593700787401}"/>
</p:tagLst>
</file>

<file path=ppt/tags/tag7.xml><?xml version="1.0" encoding="utf-8"?>
<p:tagLst xmlns:p="http://schemas.openxmlformats.org/presentationml/2006/main">
  <p:tag name="KSO_WM_DIAGRAM_VIRTUALLY_FRAME" val="{&quot;height&quot;:476.9031496062992,&quot;left&quot;:476.6906299212598,&quot;top&quot;:148.59377952755906,&quot;width&quot;:657.5593700787401}"/>
</p:tagLst>
</file>

<file path=ppt/tags/tag8.xml><?xml version="1.0" encoding="utf-8"?>
<p:tagLst xmlns:p="http://schemas.openxmlformats.org/presentationml/2006/main">
  <p:tag name="KSO_WM_DIAGRAM_VIRTUALLY_FRAME" val="{&quot;height&quot;:476.9031496062992,&quot;left&quot;:476.6906299212598,&quot;top&quot;:148.59377952755906,&quot;width&quot;:657.5593700787401}"/>
</p:tagLst>
</file>

<file path=ppt/tags/tag9.xml><?xml version="1.0" encoding="utf-8"?>
<p:tagLst xmlns:p="http://schemas.openxmlformats.org/presentationml/2006/main">
  <p:tag name="KSO_WM_DIAGRAM_VIRTUALLY_FRAME" val="{&quot;height&quot;:476.9031496062992,&quot;left&quot;:476.6906299212598,&quot;top&quot;:148.59377952755906,&quot;width&quot;:657.5593700787401}"/>
</p:tagLst>
</file>

<file path=ppt/tags/tag10.xml><?xml version="1.0" encoding="utf-8"?>
<p:tagLst xmlns:p="http://schemas.openxmlformats.org/presentationml/2006/main">
  <p:tag name="KSO_WM_DIAGRAM_VIRTUALLY_FRAME" val="{&quot;height&quot;:476.9031496062992,&quot;left&quot;:476.6906299212598,&quot;top&quot;:148.59377952755906,&quot;width&quot;:657.5593700787401}"/>
</p:tagLst>
</file>

<file path=ppt/tags/tag11.xml><?xml version="1.0" encoding="utf-8"?>
<p:tagLst xmlns:p="http://schemas.openxmlformats.org/presentationml/2006/main">
  <p:tag name="KSO_WM_DIAGRAM_VIRTUALLY_FRAME" val="{&quot;height&quot;:476.9031496062992,&quot;left&quot;:476.6906299212598,&quot;top&quot;:148.59377952755906,&quot;width&quot;:657.5593700787401}"/>
</p:tagLst>
</file>

<file path=ppt/tags/tag12.xml><?xml version="1.0" encoding="utf-8"?>
<p:tagLst xmlns:p="http://schemas.openxmlformats.org/presentationml/2006/main">
  <p:tag name="KSO_WM_DIAGRAM_VIRTUALLY_FRAME" val="{&quot;height&quot;:476.9031496062992,&quot;left&quot;:476.6906299212598,&quot;top&quot;:148.59377952755906,&quot;width&quot;:657.5593700787401}"/>
</p:tagLst>
</file>

<file path=ppt/tags/tag13.xml><?xml version="1.0" encoding="utf-8"?>
<p:tagLst xmlns:p="http://schemas.openxmlformats.org/presentationml/2006/main">
  <p:tag name="KSO_WM_DIAGRAM_VIRTUALLY_FRAME" val="{&quot;height&quot;:476.9031496062992,&quot;left&quot;:476.6906299212598,&quot;top&quot;:148.59377952755906,&quot;width&quot;:657.5593700787401}"/>
</p:tagLst>
</file>

<file path=ppt/tags/tag14.xml><?xml version="1.0" encoding="utf-8"?>
<p:tagLst xmlns:p="http://schemas.openxmlformats.org/presentationml/2006/main">
  <p:tag name="KSO_WM_DIAGRAM_VIRTUALLY_FRAME" val="{&quot;height&quot;:476.9031496062992,&quot;left&quot;:476.6906299212598,&quot;top&quot;:148.59377952755906,&quot;width&quot;:657.5593700787401}"/>
</p:tagLst>
</file>

<file path=ppt/tags/tag15.xml><?xml version="1.0" encoding="utf-8"?>
<p:tagLst xmlns:p="http://schemas.openxmlformats.org/presentationml/2006/main">
  <p:tag name="KSO_WM_DIAGRAM_VIRTUALLY_FRAME" val="{&quot;height&quot;:319.74377952755907,&quot;left&quot;:45.32811023622047,&quot;top&quot;:292.7155905511811,&quot;width&quot;:1061.343779527559}"/>
</p:tagLst>
</file>

<file path=ppt/tags/tag16.xml><?xml version="1.0" encoding="utf-8"?>
<p:tagLst xmlns:p="http://schemas.openxmlformats.org/presentationml/2006/main">
  <p:tag name="KSO_WM_DIAGRAM_VIRTUALLY_FRAME" val="{&quot;height&quot;:319.74377952755907,&quot;left&quot;:45.32811023622047,&quot;top&quot;:292.7155905511811,&quot;width&quot;:1061.343779527559}"/>
</p:tagLst>
</file>

<file path=ppt/tags/tag17.xml><?xml version="1.0" encoding="utf-8"?>
<p:tagLst xmlns:p="http://schemas.openxmlformats.org/presentationml/2006/main">
  <p:tag name="KSO_WM_DIAGRAM_VIRTUALLY_FRAME" val="{&quot;height&quot;:319.74377952755907,&quot;left&quot;:45.32811023622047,&quot;top&quot;:292.7155905511811,&quot;width&quot;:1061.343779527559}"/>
</p:tagLst>
</file>

<file path=ppt/tags/tag18.xml><?xml version="1.0" encoding="utf-8"?>
<p:tagLst xmlns:p="http://schemas.openxmlformats.org/presentationml/2006/main">
  <p:tag name="KSO_WM_DIAGRAM_VIRTUALLY_FRAME" val="{&quot;height&quot;:319.74377952755907,&quot;left&quot;:45.32811023622047,&quot;top&quot;:292.7155905511811,&quot;width&quot;:1061.343779527559}"/>
</p:tagLst>
</file>

<file path=ppt/tags/tag19.xml><?xml version="1.0" encoding="utf-8"?>
<p:tagLst xmlns:p="http://schemas.openxmlformats.org/presentationml/2006/main">
  <p:tag name="KSO_WM_DIAGRAM_VIRTUALLY_FRAME" val="{&quot;height&quot;:319.74377952755907,&quot;left&quot;:45.32811023622047,&quot;top&quot;:292.7155905511811,&quot;width&quot;:1061.343779527559}"/>
</p:tagLst>
</file>

<file path=ppt/tags/tag20.xml><?xml version="1.0" encoding="utf-8"?>
<p:tagLst xmlns:p="http://schemas.openxmlformats.org/presentationml/2006/main">
  <p:tag name="KSO_WM_DIAGRAM_VIRTUALLY_FRAME" val="{&quot;height&quot;:319.74377952755907,&quot;left&quot;:45.32811023622047,&quot;top&quot;:292.7155905511811,&quot;width&quot;:1061.343779527559}"/>
</p:tagLst>
</file>

<file path=ppt/tags/tag21.xml><?xml version="1.0" encoding="utf-8"?>
<p:tagLst xmlns:p="http://schemas.openxmlformats.org/presentationml/2006/main">
  <p:tag name="KSO_WM_DIAGRAM_VIRTUALLY_FRAME" val="{&quot;height&quot;:319.74377952755907,&quot;left&quot;:45.32811023622047,&quot;top&quot;:292.7155905511811,&quot;width&quot;:1061.343779527559}"/>
</p:tagLst>
</file>

<file path=ppt/tags/tag22.xml><?xml version="1.0" encoding="utf-8"?>
<p:tagLst xmlns:p="http://schemas.openxmlformats.org/presentationml/2006/main">
  <p:tag name="KSO_WM_DIAGRAM_VIRTUALLY_FRAME" val="{&quot;height&quot;:319.74377952755907,&quot;left&quot;:45.32811023622047,&quot;top&quot;:292.7155905511811,&quot;width&quot;:1061.343779527559}"/>
</p:tagLst>
</file>

<file path=ppt/tags/tag23.xml><?xml version="1.0" encoding="utf-8"?>
<p:tagLst xmlns:p="http://schemas.openxmlformats.org/presentationml/2006/main">
  <p:tag name="KSO_WM_DIAGRAM_VIRTUALLY_FRAME" val="{&quot;height&quot;:319.74377952755907,&quot;left&quot;:45.32811023622047,&quot;top&quot;:292.7155905511811,&quot;width&quot;:1061.343779527559}"/>
</p:tagLst>
</file>

<file path=ppt/tags/tag24.xml><?xml version="1.0" encoding="utf-8"?>
<p:tagLst xmlns:p="http://schemas.openxmlformats.org/presentationml/2006/main">
  <p:tag name="KSO_WM_DIAGRAM_VIRTUALLY_FRAME" val="{&quot;height&quot;:319.74377952755907,&quot;left&quot;:45.32811023622047,&quot;top&quot;:292.7155905511811,&quot;width&quot;:1061.343779527559}"/>
</p:tagLst>
</file>

<file path=ppt/tags/tag25.xml><?xml version="1.0" encoding="utf-8"?>
<p:tagLst xmlns:p="http://schemas.openxmlformats.org/presentationml/2006/main">
  <p:tag name="KSO_WM_DIAGRAM_VIRTUALLY_FRAME" val="{&quot;height&quot;:319.74377952755907,&quot;left&quot;:45.32811023622047,&quot;top&quot;:292.7155905511811,&quot;width&quot;:1061.343779527559}"/>
</p:tagLst>
</file>

<file path=ppt/tags/tag26.xml><?xml version="1.0" encoding="utf-8"?>
<p:tagLst xmlns:p="http://schemas.openxmlformats.org/presentationml/2006/main">
  <p:tag name="KSO_WM_DIAGRAM_VIRTUALLY_FRAME" val="{&quot;height&quot;:319.74377952755907,&quot;left&quot;:45.32811023622047,&quot;top&quot;:292.7155905511811,&quot;width&quot;:1061.343779527559}"/>
</p:tagLst>
</file>

<file path=ppt/tags/tag27.xml><?xml version="1.0" encoding="utf-8"?>
<p:tagLst xmlns:p="http://schemas.openxmlformats.org/presentationml/2006/main">
  <p:tag name="KSO_WM_DIAGRAM_VIRTUALLY_FRAME" val="{&quot;height&quot;:319.74377952755907,&quot;left&quot;:45.32811023622047,&quot;top&quot;:292.7155905511811,&quot;width&quot;:1061.343779527559}"/>
</p:tagLst>
</file>

<file path=ppt/tags/tag28.xml><?xml version="1.0" encoding="utf-8"?>
<p:tagLst xmlns:p="http://schemas.openxmlformats.org/presentationml/2006/main">
  <p:tag name="KSO_WM_DIAGRAM_VIRTUALLY_FRAME" val="{&quot;height&quot;:319.74377952755907,&quot;left&quot;:45.32811023622047,&quot;top&quot;:292.7155905511811,&quot;width&quot;:1061.343779527559}"/>
</p:tagLst>
</file>

<file path=ppt/tags/tag29.xml><?xml version="1.0" encoding="utf-8"?>
<p:tagLst xmlns:p="http://schemas.openxmlformats.org/presentationml/2006/main">
  <p:tag name="KSO_WM_DIAGRAM_VIRTUALLY_FRAME" val="{&quot;height&quot;:319.74377952755907,&quot;left&quot;:45.32811023622047,&quot;top&quot;:292.7155905511811,&quot;width&quot;:1061.343779527559}"/>
</p:tagLst>
</file>

<file path=ppt/tags/tag30.xml><?xml version="1.0" encoding="utf-8"?>
<p:tagLst xmlns:p="http://schemas.openxmlformats.org/presentationml/2006/main">
  <p:tag name="KSO_WM_DIAGRAM_VIRTUALLY_FRAME" val="{&quot;height&quot;:319.74377952755907,&quot;left&quot;:45.32811023622047,&quot;top&quot;:292.7155905511811,&quot;width&quot;:1061.343779527559}"/>
</p:tagLst>
</file>

<file path=ppt/tags/tag31.xml><?xml version="1.0" encoding="utf-8"?>
<p:tagLst xmlns:p="http://schemas.openxmlformats.org/presentationml/2006/main">
  <p:tag name="KSO_WM_DIAGRAM_VIRTUALLY_FRAME" val="{&quot;height&quot;:319.74377952755907,&quot;left&quot;:45.32811023622047,&quot;top&quot;:292.7155905511811,&quot;width&quot;:1061.343779527559}"/>
</p:tagLst>
</file>

<file path=ppt/tags/tag32.xml><?xml version="1.0" encoding="utf-8"?>
<p:tagLst xmlns:p="http://schemas.openxmlformats.org/presentationml/2006/main">
  <p:tag name="KSO_WM_DIAGRAM_VIRTUALLY_FRAME" val="{&quot;height&quot;:319.74377952755907,&quot;left&quot;:45.32811023622047,&quot;top&quot;:292.7155905511811,&quot;width&quot;:1061.343779527559}"/>
</p:tagLst>
</file>

<file path=ppt/tags/tag33.xml><?xml version="1.0" encoding="utf-8"?>
<p:tagLst xmlns:p="http://schemas.openxmlformats.org/presentationml/2006/main">
  <p:tag name="KSO_WM_DIAGRAM_VIRTUALLY_FRAME" val="{&quot;height&quot;:319.74377952755907,&quot;left&quot;:45.32811023622047,&quot;top&quot;:292.7155905511811,&quot;width&quot;:1061.343779527559}"/>
</p:tagLst>
</file>

<file path=ppt/tags/tag34.xml><?xml version="1.0" encoding="utf-8"?>
<p:tagLst xmlns:p="http://schemas.openxmlformats.org/presentationml/2006/main">
  <p:tag name="KSO_WM_DIAGRAM_VIRTUALLY_FRAME" val="{&quot;height&quot;:353.58708661417324,&quot;left&quot;:114.55,&quot;top&quot;:238.42795275590552,&quot;width&quot;:910.2296062992125}"/>
</p:tagLst>
</file>

<file path=ppt/tags/tag35.xml><?xml version="1.0" encoding="utf-8"?>
<p:tagLst xmlns:p="http://schemas.openxmlformats.org/presentationml/2006/main">
  <p:tag name="KSO_WM_DIAGRAM_VIRTUALLY_FRAME" val="{&quot;height&quot;:353.58708661417324,&quot;left&quot;:114.55,&quot;top&quot;:238.42795275590552,&quot;width&quot;:910.2296062992125}"/>
</p:tagLst>
</file>

<file path=ppt/tags/tag36.xml><?xml version="1.0" encoding="utf-8"?>
<p:tagLst xmlns:p="http://schemas.openxmlformats.org/presentationml/2006/main">
  <p:tag name="KSO_WM_DIAGRAM_VIRTUALLY_FRAME" val="{&quot;height&quot;:353.58708661417324,&quot;left&quot;:114.55,&quot;top&quot;:238.42795275590552,&quot;width&quot;:910.2296062992125}"/>
</p:tagLst>
</file>

<file path=ppt/tags/tag37.xml><?xml version="1.0" encoding="utf-8"?>
<p:tagLst xmlns:p="http://schemas.openxmlformats.org/presentationml/2006/main">
  <p:tag name="KSO_WM_DIAGRAM_VIRTUALLY_FRAME" val="{&quot;height&quot;:353.58708661417324,&quot;left&quot;:114.55,&quot;top&quot;:238.42795275590552,&quot;width&quot;:910.2296062992125}"/>
</p:tagLst>
</file>

<file path=ppt/tags/tag38.xml><?xml version="1.0" encoding="utf-8"?>
<p:tagLst xmlns:p="http://schemas.openxmlformats.org/presentationml/2006/main">
  <p:tag name="KSO_WM_DIAGRAM_VIRTUALLY_FRAME" val="{&quot;height&quot;:353.58708661417324,&quot;left&quot;:114.55,&quot;top&quot;:238.42795275590552,&quot;width&quot;:910.2296062992125}"/>
</p:tagLst>
</file>

<file path=ppt/tags/tag39.xml><?xml version="1.0" encoding="utf-8"?>
<p:tagLst xmlns:p="http://schemas.openxmlformats.org/presentationml/2006/main">
  <p:tag name="KSO_WM_DIAGRAM_VIRTUALLY_FRAME" val="{&quot;height&quot;:353.58708661417324,&quot;left&quot;:114.55,&quot;top&quot;:238.42795275590552,&quot;width&quot;:910.2296062992125}"/>
</p:tagLst>
</file>

<file path=ppt/tags/tag40.xml><?xml version="1.0" encoding="utf-8"?>
<p:tagLst xmlns:p="http://schemas.openxmlformats.org/presentationml/2006/main">
  <p:tag name="KSO_WM_DIAGRAM_VIRTUALLY_FRAME" val="{&quot;height&quot;:353.58708661417324,&quot;left&quot;:114.55,&quot;top&quot;:238.42795275590552,&quot;width&quot;:910.2296062992125}"/>
</p:tagLst>
</file>

<file path=ppt/tags/tag41.xml><?xml version="1.0" encoding="utf-8"?>
<p:tagLst xmlns:p="http://schemas.openxmlformats.org/presentationml/2006/main">
  <p:tag name="KSO_WM_DIAGRAM_VIRTUALLY_FRAME" val="{&quot;height&quot;:353.58708661417324,&quot;left&quot;:114.55,&quot;top&quot;:238.42795275590552,&quot;width&quot;:910.2296062992125}"/>
</p:tagLst>
</file>

<file path=ppt/tags/tag42.xml><?xml version="1.0" encoding="utf-8"?>
<p:tagLst xmlns:p="http://schemas.openxmlformats.org/presentationml/2006/main">
  <p:tag name="KSO_WM_DIAGRAM_VIRTUALLY_FRAME" val="{&quot;height&quot;:114.72811023622043,&quot;left&quot;:62.50314960629921,&quot;top&quot;:446.37188976377956,&quot;width&quot;:1058.8468503937008}"/>
</p:tagLst>
</file>

<file path=ppt/tags/tag43.xml><?xml version="1.0" encoding="utf-8"?>
<p:tagLst xmlns:p="http://schemas.openxmlformats.org/presentationml/2006/main">
  <p:tag name="KSO_WM_DIAGRAM_VIRTUALLY_FRAME" val="{&quot;height&quot;:114.72811023622043,&quot;left&quot;:62.50314960629921,&quot;top&quot;:446.37188976377956,&quot;width&quot;:1058.8468503937008}"/>
</p:tagLst>
</file>

<file path=ppt/tags/tag44.xml><?xml version="1.0" encoding="utf-8"?>
<p:tagLst xmlns:p="http://schemas.openxmlformats.org/presentationml/2006/main">
  <p:tag name="KSO_WM_DIAGRAM_VIRTUALLY_FRAME" val="{&quot;height&quot;:114.72811023622043,&quot;left&quot;:62.50314960629921,&quot;top&quot;:446.37188976377956,&quot;width&quot;:1058.8468503937008}"/>
</p:tagLst>
</file>

<file path=ppt/tags/tag45.xml><?xml version="1.0" encoding="utf-8"?>
<p:tagLst xmlns:p="http://schemas.openxmlformats.org/presentationml/2006/main">
  <p:tag name="KSO_WM_DIAGRAM_VIRTUALLY_FRAME" val="{&quot;height&quot;:114.72811023622043,&quot;left&quot;:62.50314960629921,&quot;top&quot;:446.37188976377956,&quot;width&quot;:1058.8468503937008}"/>
</p:tagLst>
</file>

<file path=ppt/tags/tag46.xml><?xml version="1.0" encoding="utf-8"?>
<p:tagLst xmlns:p="http://schemas.openxmlformats.org/presentationml/2006/main">
  <p:tag name="KSO_WM_DIAGRAM_VIRTUALLY_FRAME" val="{&quot;height&quot;:114.72811023622043,&quot;left&quot;:62.50314960629921,&quot;top&quot;:446.37188976377956,&quot;width&quot;:1058.8468503937008}"/>
</p:tagLst>
</file>

<file path=ppt/tags/tag47.xml><?xml version="1.0" encoding="utf-8"?>
<p:tagLst xmlns:p="http://schemas.openxmlformats.org/presentationml/2006/main">
  <p:tag name="KSO_WM_DIAGRAM_VIRTUALLY_FRAME" val="{&quot;height&quot;:114.72811023622043,&quot;left&quot;:62.50314960629921,&quot;top&quot;:446.37188976377956,&quot;width&quot;:1058.8468503937008}"/>
</p:tagLst>
</file>

<file path=ppt/tags/tag48.xml><?xml version="1.0" encoding="utf-8"?>
<p:tagLst xmlns:p="http://schemas.openxmlformats.org/presentationml/2006/main">
  <p:tag name="KSO_WM_DIAGRAM_VIRTUALLY_FRAME" val="{&quot;height&quot;:114.72811023622043,&quot;left&quot;:62.50314960629921,&quot;top&quot;:446.37188976377956,&quot;width&quot;:1058.8468503937008}"/>
</p:tagLst>
</file>

<file path=ppt/tags/tag49.xml><?xml version="1.0" encoding="utf-8"?>
<p:tagLst xmlns:p="http://schemas.openxmlformats.org/presentationml/2006/main">
  <p:tag name="KSO_WM_DIAGRAM_VIRTUALLY_FRAME" val="{&quot;height&quot;:114.72811023622043,&quot;left&quot;:62.50314960629921,&quot;top&quot;:446.37188976377956,&quot;width&quot;:1058.8468503937008}"/>
</p:tagLst>
</file>

<file path=ppt/tags/tag50.xml><?xml version="1.0" encoding="utf-8"?>
<p:tagLst xmlns:p="http://schemas.openxmlformats.org/presentationml/2006/main">
  <p:tag name="KSO_WM_DIAGRAM_VIRTUALLY_FRAME" val="{&quot;height&quot;:114.72811023622043,&quot;left&quot;:62.50314960629921,&quot;top&quot;:446.37188976377956,&quot;width&quot;:1058.8468503937008}"/>
</p:tagLst>
</file>

<file path=ppt/tags/tag51.xml><?xml version="1.0" encoding="utf-8"?>
<p:tagLst xmlns:p="http://schemas.openxmlformats.org/presentationml/2006/main">
  <p:tag name="KSO_WM_DIAGRAM_VIRTUALLY_FRAME" val="{&quot;height&quot;:384.5812598425198,&quot;left&quot;:402.09377952755904,&quot;top&quot;:221.3718897637795,&quot;width&quot;:696.1687401574804}"/>
</p:tagLst>
</file>

<file path=ppt/tags/tag52.xml><?xml version="1.0" encoding="utf-8"?>
<p:tagLst xmlns:p="http://schemas.openxmlformats.org/presentationml/2006/main">
  <p:tag name="KSO_WM_DIAGRAM_VIRTUALLY_FRAME" val="{&quot;height&quot;:384.5812598425198,&quot;left&quot;:402.09377952755904,&quot;top&quot;:221.3718897637795,&quot;width&quot;:696.1687401574804}"/>
</p:tagLst>
</file>

<file path=ppt/tags/tag53.xml><?xml version="1.0" encoding="utf-8"?>
<p:tagLst xmlns:p="http://schemas.openxmlformats.org/presentationml/2006/main">
  <p:tag name="KSO_WM_DIAGRAM_VIRTUALLY_FRAME" val="{&quot;height&quot;:384.5812598425198,&quot;left&quot;:402.09377952755904,&quot;top&quot;:221.3718897637795,&quot;width&quot;:696.1687401574804}"/>
</p:tagLst>
</file>

<file path=ppt/tags/tag54.xml><?xml version="1.0" encoding="utf-8"?>
<p:tagLst xmlns:p="http://schemas.openxmlformats.org/presentationml/2006/main">
  <p:tag name="KSO_WM_DIAGRAM_VIRTUALLY_FRAME" val="{&quot;height&quot;:384.5812598425198,&quot;left&quot;:402.09377952755904,&quot;top&quot;:221.3718897637795,&quot;width&quot;:696.1687401574804}"/>
</p:tagLst>
</file>

<file path=ppt/tags/tag55.xml><?xml version="1.0" encoding="utf-8"?>
<p:tagLst xmlns:p="http://schemas.openxmlformats.org/presentationml/2006/main">
  <p:tag name="KSO_WM_DIAGRAM_VIRTUALLY_FRAME" val="{&quot;height&quot;:384.5812598425198,&quot;left&quot;:402.09377952755904,&quot;top&quot;:221.3718897637795,&quot;width&quot;:696.1687401574804}"/>
</p:tagLst>
</file>

<file path=ppt/tags/tag56.xml><?xml version="1.0" encoding="utf-8"?>
<p:tagLst xmlns:p="http://schemas.openxmlformats.org/presentationml/2006/main">
  <p:tag name="KSO_WM_DIAGRAM_VIRTUALLY_FRAME" val="{&quot;height&quot;:384.5812598425198,&quot;left&quot;:402.09377952755904,&quot;top&quot;:221.3718897637795,&quot;width&quot;:696.1687401574804}"/>
</p:tagLst>
</file>

<file path=ppt/tags/tag57.xml><?xml version="1.0" encoding="utf-8"?>
<p:tagLst xmlns:p="http://schemas.openxmlformats.org/presentationml/2006/main">
  <p:tag name="KSO_WM_DIAGRAM_VIRTUALLY_FRAME" val="{&quot;height&quot;:384.5812598425198,&quot;left&quot;:402.09377952755904,&quot;top&quot;:221.3718897637795,&quot;width&quot;:696.1687401574804}"/>
</p:tagLst>
</file>

<file path=ppt/tags/tag58.xml><?xml version="1.0" encoding="utf-8"?>
<p:tagLst xmlns:p="http://schemas.openxmlformats.org/presentationml/2006/main">
  <p:tag name="KSO_WM_DIAGRAM_VIRTUALLY_FRAME" val="{&quot;height&quot;:384.5812598425198,&quot;left&quot;:402.09377952755904,&quot;top&quot;:221.3718897637795,&quot;width&quot;:696.1687401574804}"/>
</p:tagLst>
</file>

<file path=ppt/tags/tag59.xml><?xml version="1.0" encoding="utf-8"?>
<p:tagLst xmlns:p="http://schemas.openxmlformats.org/presentationml/2006/main">
  <p:tag name="KSO_WM_DIAGRAM_VIRTUALLY_FRAME" val="{&quot;height&quot;:384.5812598425198,&quot;left&quot;:402.09377952755904,&quot;top&quot;:221.3718897637795,&quot;width&quot;:696.1687401574804}"/>
</p:tagLst>
</file>

<file path=ppt/tags/tag60.xml><?xml version="1.0" encoding="utf-8"?>
<p:tagLst xmlns:p="http://schemas.openxmlformats.org/presentationml/2006/main">
  <p:tag name="KSO_WM_DIAGRAM_VIRTUALLY_FRAME" val="{&quot;height&quot;:384.5812598425198,&quot;left&quot;:402.09377952755904,&quot;top&quot;:221.3718897637795,&quot;width&quot;:696.1687401574804}"/>
</p:tagLst>
</file>

<file path=ppt/tags/tag61.xml><?xml version="1.0" encoding="utf-8"?>
<p:tagLst xmlns:p="http://schemas.openxmlformats.org/presentationml/2006/main">
  <p:tag name="KSO_WM_DIAGRAM_VIRTUALLY_FRAME" val="{&quot;height&quot;:384.5812598425198,&quot;left&quot;:402.09377952755904,&quot;top&quot;:221.3718897637795,&quot;width&quot;:696.1687401574804}"/>
</p:tagLst>
</file>

<file path=ppt/tags/tag62.xml><?xml version="1.0" encoding="utf-8"?>
<p:tagLst xmlns:p="http://schemas.openxmlformats.org/presentationml/2006/main">
  <p:tag name="KSO_WM_DIAGRAM_VIRTUALLY_FRAME" val="{&quot;height&quot;:384.5812598425198,&quot;left&quot;:402.09377952755904,&quot;top&quot;:221.3718897637795,&quot;width&quot;:696.1687401574804}"/>
</p:tagLst>
</file>

<file path=ppt/tags/tag63.xml><?xml version="1.0" encoding="utf-8"?>
<p:tagLst xmlns:p="http://schemas.openxmlformats.org/presentationml/2006/main">
  <p:tag name="KSO_WM_DIAGRAM_VIRTUALLY_FRAME" val="{&quot;height&quot;:384.5812598425198,&quot;left&quot;:402.09377952755904,&quot;top&quot;:221.3718897637795,&quot;width&quot;:696.1687401574804}"/>
</p:tagLst>
</file>

<file path=ppt/tags/tag64.xml><?xml version="1.0" encoding="utf-8"?>
<p:tagLst xmlns:p="http://schemas.openxmlformats.org/presentationml/2006/main">
  <p:tag name="KSO_WM_DIAGRAM_VIRTUALLY_FRAME" val="{&quot;height&quot;:384.5812598425198,&quot;left&quot;:402.09377952755904,&quot;top&quot;:221.3718897637795,&quot;width&quot;:696.1687401574804}"/>
</p:tagLst>
</file>

<file path=ppt/tags/tag65.xml><?xml version="1.0" encoding="utf-8"?>
<p:tagLst xmlns:p="http://schemas.openxmlformats.org/presentationml/2006/main">
  <p:tag name="KSO_WM_DIAGRAM_VIRTUALLY_FRAME" val="{&quot;height&quot;:384.5812598425198,&quot;left&quot;:402.09377952755904,&quot;top&quot;:221.3718897637795,&quot;width&quot;:696.1687401574804}"/>
</p:tagLst>
</file>

<file path=ppt/tags/tag66.xml><?xml version="1.0" encoding="utf-8"?>
<p:tagLst xmlns:p="http://schemas.openxmlformats.org/presentationml/2006/main">
  <p:tag name="KSO_WM_DIAGRAM_VIRTUALLY_FRAME" val="{&quot;height&quot;:384.5812598425198,&quot;left&quot;:402.09377952755904,&quot;top&quot;:221.3718897637795,&quot;width&quot;:696.1687401574804}"/>
</p:tagLst>
</file>

<file path=ppt/tags/tag67.xml><?xml version="1.0" encoding="utf-8"?>
<p:tagLst xmlns:p="http://schemas.openxmlformats.org/presentationml/2006/main">
  <p:tag name="KSO_WM_DIAGRAM_VIRTUALLY_FRAME" val="{&quot;height&quot;:339.384409448819,&quot;left&quot;:56.82188976377953,&quot;top&quot;:212.7281102362205,&quot;width&quot;:1038.356220472441}"/>
</p:tagLst>
</file>

<file path=ppt/tags/tag68.xml><?xml version="1.0" encoding="utf-8"?>
<p:tagLst xmlns:p="http://schemas.openxmlformats.org/presentationml/2006/main">
  <p:tag name="KSO_WM_DIAGRAM_VIRTUALLY_FRAME" val="{&quot;height&quot;:339.384409448819,&quot;left&quot;:56.82188976377953,&quot;top&quot;:212.7281102362205,&quot;width&quot;:1038.356220472441}"/>
</p:tagLst>
</file>

<file path=ppt/tags/tag69.xml><?xml version="1.0" encoding="utf-8"?>
<p:tagLst xmlns:p="http://schemas.openxmlformats.org/presentationml/2006/main">
  <p:tag name="KSO_WM_DIAGRAM_VIRTUALLY_FRAME" val="{&quot;height&quot;:339.384409448819,&quot;left&quot;:56.82188976377953,&quot;top&quot;:212.7281102362205,&quot;width&quot;:1038.356220472441}"/>
</p:tagLst>
</file>

<file path=ppt/tags/tag70.xml><?xml version="1.0" encoding="utf-8"?>
<p:tagLst xmlns:p="http://schemas.openxmlformats.org/presentationml/2006/main">
  <p:tag name="KSO_WM_DIAGRAM_VIRTUALLY_FRAME" val="{&quot;height&quot;:339.384409448819,&quot;left&quot;:56.82188976377953,&quot;top&quot;:212.7281102362205,&quot;width&quot;:1038.356220472441}"/>
</p:tagLst>
</file>

<file path=ppt/tags/tag71.xml><?xml version="1.0" encoding="utf-8"?>
<p:tagLst xmlns:p="http://schemas.openxmlformats.org/presentationml/2006/main">
  <p:tag name="KSO_WM_DIAGRAM_VIRTUALLY_FRAME" val="{&quot;height&quot;:339.384409448819,&quot;left&quot;:56.82188976377953,&quot;top&quot;:212.7281102362205,&quot;width&quot;:1038.356220472441}"/>
</p:tagLst>
</file>

<file path=ppt/tags/tag72.xml><?xml version="1.0" encoding="utf-8"?>
<p:tagLst xmlns:p="http://schemas.openxmlformats.org/presentationml/2006/main">
  <p:tag name="KSO_WM_DIAGRAM_VIRTUALLY_FRAME" val="{&quot;height&quot;:339.384409448819,&quot;left&quot;:56.82188976377953,&quot;top&quot;:212.7281102362205,&quot;width&quot;:1038.356220472441}"/>
</p:tagLst>
</file>

<file path=ppt/tags/tag73.xml><?xml version="1.0" encoding="utf-8"?>
<p:tagLst xmlns:p="http://schemas.openxmlformats.org/presentationml/2006/main">
  <p:tag name="KSO_WM_DIAGRAM_VIRTUALLY_FRAME" val="{&quot;height&quot;:339.384409448819,&quot;left&quot;:56.82188976377953,&quot;top&quot;:212.7281102362205,&quot;width&quot;:1038.356220472441}"/>
</p:tagLst>
</file>

<file path=ppt/tags/tag74.xml><?xml version="1.0" encoding="utf-8"?>
<p:tagLst xmlns:p="http://schemas.openxmlformats.org/presentationml/2006/main">
  <p:tag name="KSO_WM_DIAGRAM_VIRTUALLY_FRAME" val="{&quot;height&quot;:339.384409448819,&quot;left&quot;:56.82188976377953,&quot;top&quot;:212.7281102362205,&quot;width&quot;:1038.356220472441}"/>
</p:tagLst>
</file>

<file path=ppt/tags/tag75.xml><?xml version="1.0" encoding="utf-8"?>
<p:tagLst xmlns:p="http://schemas.openxmlformats.org/presentationml/2006/main">
  <p:tag name="KSO_WM_DIAGRAM_VIRTUALLY_FRAME" val="{&quot;height&quot;:339.384409448819,&quot;left&quot;:56.82188976377953,&quot;top&quot;:212.7281102362205,&quot;width&quot;:1038.356220472441}"/>
</p:tagLst>
</file>

<file path=ppt/tags/tag76.xml><?xml version="1.0" encoding="utf-8"?>
<p:tagLst xmlns:p="http://schemas.openxmlformats.org/presentationml/2006/main">
  <p:tag name="KSO_WM_DIAGRAM_VIRTUALLY_FRAME" val="{&quot;height&quot;:339.384409448819,&quot;left&quot;:56.82188976377953,&quot;top&quot;:212.7281102362205,&quot;width&quot;:1038.356220472441}"/>
</p:tagLst>
</file>

<file path=ppt/tags/tag77.xml><?xml version="1.0" encoding="utf-8"?>
<p:tagLst xmlns:p="http://schemas.openxmlformats.org/presentationml/2006/main">
  <p:tag name="KSO_WM_DIAGRAM_VIRTUALLY_FRAME" val="{&quot;height&quot;:339.384409448819,&quot;left&quot;:56.82188976377953,&quot;top&quot;:212.7281102362205,&quot;width&quot;:1038.356220472441}"/>
</p:tagLst>
</file>

<file path=ppt/tags/tag78.xml><?xml version="1.0" encoding="utf-8"?>
<p:tagLst xmlns:p="http://schemas.openxmlformats.org/presentationml/2006/main">
  <p:tag name="KSO_WM_DIAGRAM_VIRTUALLY_FRAME" val="{&quot;height&quot;:339.384409448819,&quot;left&quot;:56.82188976377953,&quot;top&quot;:212.7281102362205,&quot;width&quot;:1038.356220472441}"/>
</p:tagLst>
</file>

<file path=ppt/tags/tag79.xml><?xml version="1.0" encoding="utf-8"?>
<p:tagLst xmlns:p="http://schemas.openxmlformats.org/presentationml/2006/main">
  <p:tag name="KSO_WM_DIAGRAM_VIRTUALLY_FRAME" val="{&quot;height&quot;:339.384409448819,&quot;left&quot;:56.82188976377953,&quot;top&quot;:212.7281102362205,&quot;width&quot;:1038.356220472441}"/>
</p:tagLst>
</file>

<file path=ppt/tags/tag80.xml><?xml version="1.0" encoding="utf-8"?>
<p:tagLst xmlns:p="http://schemas.openxmlformats.org/presentationml/2006/main">
  <p:tag name="KSO_WM_DIAGRAM_VIRTUALLY_FRAME" val="{&quot;height&quot;:339.384409448819,&quot;left&quot;:56.82188976377953,&quot;top&quot;:212.7281102362205,&quot;width&quot;:1038.356220472441}"/>
</p:tagLst>
</file>

<file path=ppt/tags/tag81.xml><?xml version="1.0" encoding="utf-8"?>
<p:tagLst xmlns:p="http://schemas.openxmlformats.org/presentationml/2006/main">
  <p:tag name="KSO_WM_DIAGRAM_VIRTUALLY_FRAME" val="{&quot;height&quot;:339.384409448819,&quot;left&quot;:56.82188976377953,&quot;top&quot;:212.7281102362205,&quot;width&quot;:1038.356220472441}"/>
</p:tagLst>
</file>

<file path=ppt/tags/tag82.xml><?xml version="1.0" encoding="utf-8"?>
<p:tagLst xmlns:p="http://schemas.openxmlformats.org/presentationml/2006/main">
  <p:tag name="KSO_WM_DIAGRAM_VIRTUALLY_FRAME" val="{&quot;height&quot;:339.384409448819,&quot;left&quot;:56.82188976377953,&quot;top&quot;:212.7281102362205,&quot;width&quot;:1038.356220472441}"/>
</p:tagLst>
</file>

<file path=ppt/tags/tag83.xml><?xml version="1.0" encoding="utf-8"?>
<p:tagLst xmlns:p="http://schemas.openxmlformats.org/presentationml/2006/main">
  <p:tag name="KSO_WM_DIAGRAM_VIRTUALLY_FRAME" val="{&quot;height&quot;:339.384409448819,&quot;left&quot;:56.82188976377953,&quot;top&quot;:212.7281102362205,&quot;width&quot;:1038.356220472441}"/>
</p:tagLst>
</file>

<file path=ppt/tags/tag84.xml><?xml version="1.0" encoding="utf-8"?>
<p:tagLst xmlns:p="http://schemas.openxmlformats.org/presentationml/2006/main">
  <p:tag name="KSO_WM_DIAGRAM_VIRTUALLY_FRAME" val="{&quot;height&quot;:339.384409448819,&quot;left&quot;:56.82188976377953,&quot;top&quot;:212.7281102362205,&quot;width&quot;:1038.356220472441}"/>
</p:tagLst>
</file>

<file path=ppt/tags/tag85.xml><?xml version="1.0" encoding="utf-8"?>
<p:tagLst xmlns:p="http://schemas.openxmlformats.org/presentationml/2006/main">
  <p:tag name="KSO_WM_DIAGRAM_VIRTUALLY_FRAME" val="{&quot;height&quot;:339.384409448819,&quot;left&quot;:56.82188976377953,&quot;top&quot;:212.7281102362205,&quot;width&quot;:1038.356220472441}"/>
</p:tagLst>
</file>

<file path=ppt/tags/tag86.xml><?xml version="1.0" encoding="utf-8"?>
<p:tagLst xmlns:p="http://schemas.openxmlformats.org/presentationml/2006/main">
  <p:tag name="KSO_WM_DIAGRAM_VIRTUALLY_FRAME" val="{&quot;height&quot;:339.384409448819,&quot;left&quot;:56.82188976377953,&quot;top&quot;:212.7281102362205,&quot;width&quot;:1038.356220472441}"/>
</p:tagLst>
</file>

<file path=ppt/tags/tag87.xml><?xml version="1.0" encoding="utf-8"?>
<p:tagLst xmlns:p="http://schemas.openxmlformats.org/presentationml/2006/main">
  <p:tag name="KSO_WM_DIAGRAM_VIRTUALLY_FRAME" val="{&quot;height&quot;:368.0718897637795,&quot;left&quot;:62.50314960629921,&quot;top&quot;:175.1155905511811,&quot;width&quot;:1026.9937007874018}"/>
</p:tagLst>
</file>

<file path=ppt/tags/tag88.xml><?xml version="1.0" encoding="utf-8"?>
<p:tagLst xmlns:p="http://schemas.openxmlformats.org/presentationml/2006/main">
  <p:tag name="KSO_WM_DIAGRAM_VIRTUALLY_FRAME" val="{&quot;height&quot;:368.0718897637795,&quot;left&quot;:62.50314960629921,&quot;top&quot;:175.1155905511811,&quot;width&quot;:1026.9937007874018}"/>
</p:tagLst>
</file>

<file path=ppt/tags/tag89.xml><?xml version="1.0" encoding="utf-8"?>
<p:tagLst xmlns:p="http://schemas.openxmlformats.org/presentationml/2006/main">
  <p:tag name="KSO_WM_DIAGRAM_VIRTUALLY_FRAME" val="{&quot;height&quot;:368.0718897637795,&quot;left&quot;:62.50314960629921,&quot;top&quot;:175.1155905511811,&quot;width&quot;:1026.9937007874018}"/>
</p:tagLst>
</file>

<file path=ppt/tags/tag90.xml><?xml version="1.0" encoding="utf-8"?>
<p:tagLst xmlns:p="http://schemas.openxmlformats.org/presentationml/2006/main">
  <p:tag name="KSO_WM_DIAGRAM_VIRTUALLY_FRAME" val="{&quot;height&quot;:368.0718897637795,&quot;left&quot;:62.50314960629921,&quot;top&quot;:175.1155905511811,&quot;width&quot;:1026.9937007874018}"/>
</p:tagLst>
</file>

<file path=ppt/tags/tag91.xml><?xml version="1.0" encoding="utf-8"?>
<p:tagLst xmlns:p="http://schemas.openxmlformats.org/presentationml/2006/main">
  <p:tag name="KSO_WM_DIAGRAM_VIRTUALLY_FRAME" val="{&quot;height&quot;:368.0718897637795,&quot;left&quot;:62.50314960629921,&quot;top&quot;:175.1155905511811,&quot;width&quot;:1026.9937007874018}"/>
</p:tagLst>
</file>

<file path=ppt/tags/tag92.xml><?xml version="1.0" encoding="utf-8"?>
<p:tagLst xmlns:p="http://schemas.openxmlformats.org/presentationml/2006/main">
  <p:tag name="KSO_WM_DIAGRAM_VIRTUALLY_FRAME" val="{&quot;height&quot;:368.0718897637795,&quot;left&quot;:62.50314960629921,&quot;top&quot;:175.1155905511811,&quot;width&quot;:1026.9937007874018}"/>
</p:tagLst>
</file>

<file path=ppt/tags/tag93.xml><?xml version="1.0" encoding="utf-8"?>
<p:tagLst xmlns:p="http://schemas.openxmlformats.org/presentationml/2006/main">
  <p:tag name="KSO_WM_DIAGRAM_VIRTUALLY_FRAME" val="{&quot;height&quot;:368.0718897637795,&quot;left&quot;:62.50314960629921,&quot;top&quot;:175.1155905511811,&quot;width&quot;:1026.9937007874018}"/>
</p:tagLst>
</file>

<file path=ppt/tags/tag94.xml><?xml version="1.0" encoding="utf-8"?>
<p:tagLst xmlns:p="http://schemas.openxmlformats.org/presentationml/2006/main">
  <p:tag name="KSO_WM_DIAGRAM_VIRTUALLY_FRAME" val="{&quot;height&quot;:368.0718897637795,&quot;left&quot;:62.50314960629921,&quot;top&quot;:175.1155905511811,&quot;width&quot;:1026.9937007874018}"/>
</p:tagLst>
</file>

<file path=ppt/tags/tag95.xml><?xml version="1.0" encoding="utf-8"?>
<p:tagLst xmlns:p="http://schemas.openxmlformats.org/presentationml/2006/main">
  <p:tag name="KSO_WM_DIAGRAM_VIRTUALLY_FRAME" val="{&quot;height&quot;:368.0718897637795,&quot;left&quot;:62.50314960629921,&quot;top&quot;:175.1155905511811,&quot;width&quot;:1026.9937007874018}"/>
</p:tagLst>
</file>

<file path=ppt/tags/tag96.xml><?xml version="1.0" encoding="utf-8"?>
<p:tagLst xmlns:p="http://schemas.openxmlformats.org/presentationml/2006/main">
  <p:tag name="KSO_WM_DIAGRAM_VIRTUALLY_FRAME" val="{&quot;height&quot;:368.0718897637795,&quot;left&quot;:62.50314960629921,&quot;top&quot;:175.1155905511811,&quot;width&quot;:1026.9937007874018}"/>
</p:tagLst>
</file>

<file path=ppt/tags/tag97.xml><?xml version="1.0" encoding="utf-8"?>
<p:tagLst xmlns:p="http://schemas.openxmlformats.org/presentationml/2006/main">
  <p:tag name="KSO_WM_DIAGRAM_VIRTUALLY_FRAME" val="{&quot;height&quot;:368.0718897637795,&quot;left&quot;:62.50314960629921,&quot;top&quot;:175.1155905511811,&quot;width&quot;:1026.9937007874018}"/>
</p:tagLst>
</file>

<file path=ppt/tags/tag98.xml><?xml version="1.0" encoding="utf-8"?>
<p:tagLst xmlns:p="http://schemas.openxmlformats.org/presentationml/2006/main">
  <p:tag name="KSO_WM_DIAGRAM_VIRTUALLY_FRAME" val="{&quot;height&quot;:368.0718897637795,&quot;left&quot;:62.50314960629921,&quot;top&quot;:175.1155905511811,&quot;width&quot;:1026.9937007874018}"/>
</p:tagLst>
</file>

<file path=ppt/tags/tag99.xml><?xml version="1.0" encoding="utf-8"?>
<p:tagLst xmlns:p="http://schemas.openxmlformats.org/presentationml/2006/main">
  <p:tag name="KSO_WM_DIAGRAM_VIRTUALLY_FRAME" val="{&quot;height&quot;:368.0718897637795,&quot;left&quot;:62.50314960629921,&quot;top&quot;:175.1155905511811,&quot;width&quot;:1026.9937007874018}"/>
</p:tagLst>
</file>

<file path=ppt/tags/tag100.xml><?xml version="1.0" encoding="utf-8"?>
<p:tagLst xmlns:p="http://schemas.openxmlformats.org/presentationml/2006/main">
  <p:tag name="KSO_WM_DIAGRAM_VIRTUALLY_FRAME" val="{&quot;height&quot;:368.0718897637795,&quot;left&quot;:62.50314960629921,&quot;top&quot;:175.1155905511811,&quot;width&quot;:1026.9937007874018}"/>
</p:tagLst>
</file>

<file path=ppt/tags/tag101.xml><?xml version="1.0" encoding="utf-8"?>
<p:tagLst xmlns:p="http://schemas.openxmlformats.org/presentationml/2006/main">
  <p:tag name="KSO_WM_DIAGRAM_VIRTUALLY_FRAME" val="{&quot;height&quot;:368.0718897637795,&quot;left&quot;:62.50314960629921,&quot;top&quot;:175.1155905511811,&quot;width&quot;:1026.9937007874018}"/>
</p:tagLst>
</file>

<file path=ppt/tags/tag102.xml><?xml version="1.0" encoding="utf-8"?>
<p:tagLst xmlns:p="http://schemas.openxmlformats.org/presentationml/2006/main">
  <p:tag name="KSO_WM_DIAGRAM_VIRTUALLY_FRAME" val="{&quot;height&quot;:368.0718897637795,&quot;left&quot;:62.50314960629921,&quot;top&quot;:175.1155905511811,&quot;width&quot;:1026.9937007874018}"/>
</p:tagLst>
</file>

<file path=ppt/tags/tag103.xml><?xml version="1.0" encoding="utf-8"?>
<p:tagLst xmlns:p="http://schemas.openxmlformats.org/presentationml/2006/main">
  <p:tag name="KSO_WM_DIAGRAM_VIRTUALLY_FRAME" val="{&quot;height&quot;:368.0718897637795,&quot;left&quot;:62.50314960629921,&quot;top&quot;:175.1155905511811,&quot;width&quot;:1026.9937007874018}"/>
</p:tagLst>
</file>

<file path=ppt/tags/tag104.xml><?xml version="1.0" encoding="utf-8"?>
<p:tagLst xmlns:p="http://schemas.openxmlformats.org/presentationml/2006/main">
  <p:tag name="KSO_WM_DIAGRAM_VIRTUALLY_FRAME" val="{&quot;height&quot;:368.0718897637795,&quot;left&quot;:62.50314960629921,&quot;top&quot;:175.1155905511811,&quot;width&quot;:1026.9937007874018}"/>
</p:tagLst>
</file>

<file path=ppt/tags/tag105.xml><?xml version="1.0" encoding="utf-8"?>
<p:tagLst xmlns:p="http://schemas.openxmlformats.org/presentationml/2006/main">
  <p:tag name="KSO_WM_DIAGRAM_VIRTUALLY_FRAME" val="{&quot;height&quot;:368.0718897637795,&quot;left&quot;:62.50314960629921,&quot;top&quot;:175.1155905511811,&quot;width&quot;:1026.9937007874018}"/>
</p:tagLst>
</file>

<file path=ppt/tags/tag106.xml><?xml version="1.0" encoding="utf-8"?>
<p:tagLst xmlns:p="http://schemas.openxmlformats.org/presentationml/2006/main">
  <p:tag name="KSO_WM_DIAGRAM_VIRTUALLY_FRAME" val="{&quot;height&quot;:368.0718897637795,&quot;left&quot;:62.50314960629921,&quot;top&quot;:175.1155905511811,&quot;width&quot;:1026.9937007874018}"/>
</p:tagLst>
</file>

<file path=ppt/tags/tag107.xml><?xml version="1.0" encoding="utf-8"?>
<p:tagLst xmlns:p="http://schemas.openxmlformats.org/presentationml/2006/main">
  <p:tag name="KSO_WM_DIAGRAM_VIRTUALLY_FRAME" val="{&quot;height&quot;:368.0718897637795,&quot;left&quot;:62.50314960629921,&quot;top&quot;:175.1155905511811,&quot;width&quot;:1026.9937007874018}"/>
</p:tagLst>
</file>

<file path=ppt/tags/tag108.xml><?xml version="1.0" encoding="utf-8"?>
<p:tagLst xmlns:p="http://schemas.openxmlformats.org/presentationml/2006/main">
  <p:tag name="KSO_WM_DIAGRAM_VIRTUALLY_FRAME" val="{&quot;height&quot;:368.0718897637795,&quot;left&quot;:62.50314960629921,&quot;top&quot;:175.1155905511811,&quot;width&quot;:1026.9937007874018}"/>
</p:tagLst>
</file>

<file path=ppt/tags/tag109.xml><?xml version="1.0" encoding="utf-8"?>
<p:tagLst xmlns:p="http://schemas.openxmlformats.org/presentationml/2006/main">
  <p:tag name="KSO_WM_DIAGRAM_VIRTUALLY_FRAME" val="{&quot;height&quot;:368.0718897637795,&quot;left&quot;:62.50314960629921,&quot;top&quot;:175.1155905511811,&quot;width&quot;:1026.9937007874018}"/>
</p:tagLst>
</file>

<file path=ppt/tags/tag110.xml><?xml version="1.0" encoding="utf-8"?>
<p:tagLst xmlns:p="http://schemas.openxmlformats.org/presentationml/2006/main">
  <p:tag name="KSO_WM_DIAGRAM_VIRTUALLY_FRAME" val="{&quot;height&quot;:368.0718897637795,&quot;left&quot;:62.50314960629921,&quot;top&quot;:175.1155905511811,&quot;width&quot;:1026.9937007874018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6841</Words>
  <Application>WPS Presentation</Application>
  <PresentationFormat>On-screen Show (16:9)</PresentationFormat>
  <Paragraphs>304</Paragraphs>
  <Slides>15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37" baseType="lpstr">
      <vt:lpstr>Arial</vt:lpstr>
      <vt:lpstr>SimSun</vt:lpstr>
      <vt:lpstr>Wingdings</vt:lpstr>
      <vt:lpstr>Bahnschrift SemiLight</vt:lpstr>
      <vt:lpstr>Crimson Pro Bold</vt:lpstr>
      <vt:lpstr>Open Sans</vt:lpstr>
      <vt:lpstr>Open Sans</vt:lpstr>
      <vt:lpstr>Open Sans</vt:lpstr>
      <vt:lpstr>Calibri</vt:lpstr>
      <vt:lpstr>Algerian</vt:lpstr>
      <vt:lpstr>Bahnschrift SemiBold</vt:lpstr>
      <vt:lpstr>Bahnschrift Light</vt:lpstr>
      <vt:lpstr>Crimson Pro Bold</vt:lpstr>
      <vt:lpstr>Crimson Pro Bold</vt:lpstr>
      <vt:lpstr>Bell MT</vt:lpstr>
      <vt:lpstr>Wingdings</vt:lpstr>
      <vt:lpstr>Microsoft YaHei</vt:lpstr>
      <vt:lpstr>Arial Unicode MS</vt:lpstr>
      <vt:lpstr>Segoe Print</vt:lpstr>
      <vt:lpstr>Aldhabi</vt:lpstr>
      <vt:lpstr>MingLiU-ExtB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IT</cp:lastModifiedBy>
  <cp:revision>14</cp:revision>
  <dcterms:created xsi:type="dcterms:W3CDTF">2025-11-23T23:50:00Z</dcterms:created>
  <dcterms:modified xsi:type="dcterms:W3CDTF">2025-12-15T18:56:44Z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12EEC2ED16E04E5E81B14EF32A06B61E_13</vt:lpwstr>
  </property>
  <property fmtid="{D5CDD505-2E9C-101B-9397-08002B2CF9AE}" pid="3" name="KSOProductBuildVer">
    <vt:lpwstr>2057-12.2.0.23158</vt:lpwstr>
  </property>
</Properties>
</file>